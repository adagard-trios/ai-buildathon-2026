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a:latin typeface="Arial"/>
              </a:rPr>
              <a:t>Forecast pinball loss, 7 matched folds (lower is better)</a:t>
            </a:r>
          </a:p>
        </c:rich>
      </c:tx>
      <c:layout/>
      <c:overlay val="0"/>
    </c:title>
    <c:autoTitleDeleted val="0"/>
    <c:plotArea>
      <c:barChart>
        <c:barDir val="bar"/>
        <c:grouping val="clustered"/>
        <c:ser>
          <c:idx val="0"/>
          <c:order val="0"/>
          <c:tx>
            <c:strRef>
              <c:f>Sheet1!$B$1</c:f>
              <c:strCache>
                <c:ptCount val="1"/>
                <c:pt idx="0">
                  <c:v>Pinball loss</c:v>
                </c:pt>
              </c:strCache>
            </c:strRef>
          </c:tx>
          <c:dPt>
            <c:idx val="0"/>
            <c:spPr>
              <a:solidFill>
                <a:srgbClr val="55625F"/>
              </a:solidFill>
            </c:spPr>
          </c:dPt>
          <c:dPt>
            <c:idx val="1"/>
            <c:spPr>
              <a:solidFill>
                <a:srgbClr val="0B6E4F"/>
              </a:solidFill>
            </c:spPr>
          </c:dPt>
          <c:cat>
            <c:strRef>
              <c:f>Sheet1!$A$2:$A$3</c:f>
              <c:strCache>
                <c:ptCount val="2"/>
                <c:pt idx="0">
                  <c:v>LSTM baseline</c:v>
                </c:pt>
                <c:pt idx="1">
                  <c:v>Hybrid (TimesFM + LoRA)</c:v>
                </c:pt>
              </c:strCache>
            </c:strRef>
          </c:cat>
          <c:val>
            <c:numRef>
              <c:f>Sheet1!$B$2:$B$3</c:f>
              <c:numCache>
                <c:formatCode>General</c:formatCode>
                <c:ptCount val="2"/>
                <c:pt idx="0">
                  <c:v>0.00858</c:v>
                </c:pt>
                <c:pt idx="1">
                  <c:v>0.008</c:v>
                </c:pt>
              </c:numCache>
            </c:numRef>
          </c:val>
        </c:ser>
        <c:dLbls>
          <c:numFmt formatCode="0.00000" sourceLinked="0"/>
          <c:txPr>
            <a:bodyPr/>
            <a:lstStyle/>
            <a:p>
              <a:pPr>
                <a:defRPr sz="1000">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txPr>
          <a:bodyPr/>
          <a:lstStyle/>
          <a:p>
            <a:pPr>
              <a:defRPr sz="1000">
                <a:latin typeface="Arial"/>
              </a:defRPr>
            </a:pPr>
          </a:p>
        </c:txPr>
        <c:crossAx val="-2113994440"/>
        <c:crosses val="autoZero"/>
        <c:auto val="1"/>
        <c:lblAlgn val="ctr"/>
        <c:lblOffset val="100"/>
        <c:noMultiLvlLbl val="0"/>
      </c:catAx>
      <c:valAx>
        <c:axId val="-2113994440"/>
        <c:scaling>
          <c:max val="0.0108"/>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FirstStep: an AI copilot for first-time investors in Sri Lanka, built on Gemini and Google Cloud.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Kamala, a retired teacher, is the user we design for. The four steps are the demo video.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Adagard-Trios/AI-Buildathon-2026" TargetMode="External"/><Relationship Id="rId6" Type="http://schemas.openxmlformats.org/officeDocument/2006/relationships/hyperlink" Target="https://firststep-web-214625202650.us-central1.run.app"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solidFill>
                  <a:srgbClr val="0B6E4F"/>
                </a:solidFill>
                <a:latin typeface="Arial"/>
              </a:rPr>
              <a:t>Adagard Trios</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solidFill>
                  <a:srgbClr val="0B6E4F"/>
                </a:solidFill>
                <a:latin typeface="Arial"/>
              </a:rPr>
              <a:t>Nivakaran Shanmugabavan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solidFill>
                  <a:srgbClr val="0B6E4F"/>
                </a:solidFill>
                <a:latin typeface="Arial"/>
              </a:rPr>
              <a:t>Challenge 1 (BFSI): Intelligent Risk, Fraud &amp; Financial Experiences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Idea"/>
          <p:cNvSpPr txBox="1"/>
          <p:nvPr/>
        </p:nvSpPr>
        <p:spPr>
          <a:xfrm>
            <a:off x="274320" y="1143000"/>
            <a:ext cx="8595360" cy="566928"/>
          </a:xfrm>
          <a:prstGeom prst="rect">
            <a:avLst/>
          </a:prstGeom>
          <a:noFill/>
        </p:spPr>
        <p:txBody>
          <a:bodyPr wrap="square" anchor="t" lIns="0" rIns="0" tIns="0" bIns="0">
            <a:spAutoFit/>
          </a:bodyPr>
          <a:lstStyle/>
          <a:p>
            <a:pPr algn="l"/>
            <a:r>
              <a:rPr sz="1300" b="0" i="0">
                <a:solidFill>
                  <a:srgbClr val="14201F"/>
                </a:solidFill>
                <a:latin typeface="Arial"/>
              </a:rPr>
              <a:t>FirstStep checks a scam before the money moves, explains every decision in Sinhala, Tamil or English, plans cash withdrawals at the lowest loss, and seals every decision so nobody can quietly change it later.</a:t>
            </a:r>
          </a:p>
        </p:txBody>
      </p:sp>
      <p:sp>
        <p:nvSpPr>
          <p:cNvPr id="73" name="Rounded Rectangle 72"/>
          <p:cNvSpPr/>
          <p:nvPr/>
        </p:nvSpPr>
        <p:spPr>
          <a:xfrm>
            <a:off x="274320" y="1874519"/>
            <a:ext cx="2743200" cy="109728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411479" y="1947672"/>
            <a:ext cx="2468880" cy="457200"/>
          </a:xfrm>
          <a:prstGeom prst="rect">
            <a:avLst/>
          </a:prstGeom>
          <a:noFill/>
        </p:spPr>
        <p:txBody>
          <a:bodyPr wrap="square" anchor="t" lIns="0" rIns="0" tIns="0" bIns="0">
            <a:spAutoFit/>
          </a:bodyPr>
          <a:lstStyle/>
          <a:p>
            <a:pPr algn="l"/>
            <a:r>
              <a:rPr sz="2400" b="1" i="0">
                <a:solidFill>
                  <a:srgbClr val="0B6E4F"/>
                </a:solidFill>
                <a:latin typeface="Arial"/>
              </a:rPr>
              <a:t>USD 88–114 bn</a:t>
            </a:r>
          </a:p>
        </p:txBody>
      </p:sp>
      <p:sp>
        <p:nvSpPr>
          <p:cNvPr id="75" name="TextBox 74"/>
          <p:cNvSpPr txBox="1"/>
          <p:nvPr/>
        </p:nvSpPr>
        <p:spPr>
          <a:xfrm>
            <a:off x="411479" y="2423160"/>
            <a:ext cx="2468880" cy="502920"/>
          </a:xfrm>
          <a:prstGeom prst="rect">
            <a:avLst/>
          </a:prstGeom>
          <a:noFill/>
        </p:spPr>
        <p:txBody>
          <a:bodyPr wrap="square" anchor="t" lIns="0" rIns="0" tIns="0" bIns="0">
            <a:spAutoFit/>
          </a:bodyPr>
          <a:lstStyle/>
          <a:p>
            <a:pPr algn="l"/>
            <a:r>
              <a:rPr sz="1050" b="0" i="0">
                <a:solidFill>
                  <a:srgbClr val="55625F"/>
                </a:solidFill>
                <a:latin typeface="Arial"/>
              </a:rPr>
              <a:t>lost to transnational online scams across Asia-Pacific in 2025 (UNODC)</a:t>
            </a:r>
          </a:p>
        </p:txBody>
      </p:sp>
      <p:sp>
        <p:nvSpPr>
          <p:cNvPr id="76" name="Rounded Rectangle 75"/>
          <p:cNvSpPr/>
          <p:nvPr/>
        </p:nvSpPr>
        <p:spPr>
          <a:xfrm>
            <a:off x="3163824" y="1874519"/>
            <a:ext cx="2743200" cy="109728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3300984" y="1947672"/>
            <a:ext cx="2468880" cy="457200"/>
          </a:xfrm>
          <a:prstGeom prst="rect">
            <a:avLst/>
          </a:prstGeom>
          <a:noFill/>
        </p:spPr>
        <p:txBody>
          <a:bodyPr wrap="square" anchor="t" lIns="0" rIns="0" tIns="0" bIns="0">
            <a:spAutoFit/>
          </a:bodyPr>
          <a:lstStyle/>
          <a:p>
            <a:pPr algn="l"/>
            <a:r>
              <a:rPr sz="2400" b="1" i="0">
                <a:solidFill>
                  <a:srgbClr val="0B6E4F"/>
                </a:solidFill>
                <a:latin typeface="Arial"/>
              </a:rPr>
              <a:t>22%</a:t>
            </a:r>
          </a:p>
        </p:txBody>
      </p:sp>
      <p:sp>
        <p:nvSpPr>
          <p:cNvPr id="78" name="TextBox 77"/>
          <p:cNvSpPr txBox="1"/>
          <p:nvPr/>
        </p:nvSpPr>
        <p:spPr>
          <a:xfrm>
            <a:off x="3300984" y="2423160"/>
            <a:ext cx="2468880" cy="502920"/>
          </a:xfrm>
          <a:prstGeom prst="rect">
            <a:avLst/>
          </a:prstGeom>
          <a:noFill/>
        </p:spPr>
        <p:txBody>
          <a:bodyPr wrap="square" anchor="t" lIns="0" rIns="0" tIns="0" bIns="0">
            <a:spAutoFit/>
          </a:bodyPr>
          <a:lstStyle/>
          <a:p>
            <a:pPr algn="l"/>
            <a:r>
              <a:rPr sz="1050" b="0" i="0">
                <a:solidFill>
                  <a:srgbClr val="55625F"/>
                </a:solidFill>
                <a:latin typeface="Arial"/>
              </a:rPr>
              <a:t>of Southeast Asian scam victims recovered any money (GASA 2025)</a:t>
            </a:r>
          </a:p>
        </p:txBody>
      </p:sp>
      <p:sp>
        <p:nvSpPr>
          <p:cNvPr id="79" name="Rounded Rectangle 78"/>
          <p:cNvSpPr/>
          <p:nvPr/>
        </p:nvSpPr>
        <p:spPr>
          <a:xfrm>
            <a:off x="6053328" y="1874519"/>
            <a:ext cx="2743200" cy="109728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6190488" y="1947672"/>
            <a:ext cx="2468880" cy="457200"/>
          </a:xfrm>
          <a:prstGeom prst="rect">
            <a:avLst/>
          </a:prstGeom>
          <a:noFill/>
        </p:spPr>
        <p:txBody>
          <a:bodyPr wrap="square" anchor="t" lIns="0" rIns="0" tIns="0" bIns="0">
            <a:spAutoFit/>
          </a:bodyPr>
          <a:lstStyle/>
          <a:p>
            <a:pPr algn="l"/>
            <a:r>
              <a:rPr sz="2400" b="1" i="0">
                <a:solidFill>
                  <a:srgbClr val="0B6E4F"/>
                </a:solidFill>
                <a:latin typeface="Arial"/>
              </a:rPr>
              <a:t>2×</a:t>
            </a:r>
          </a:p>
        </p:txBody>
      </p:sp>
      <p:sp>
        <p:nvSpPr>
          <p:cNvPr id="81" name="TextBox 80"/>
          <p:cNvSpPr txBox="1"/>
          <p:nvPr/>
        </p:nvSpPr>
        <p:spPr>
          <a:xfrm>
            <a:off x="6190488" y="2423160"/>
            <a:ext cx="2468880" cy="502920"/>
          </a:xfrm>
          <a:prstGeom prst="rect">
            <a:avLst/>
          </a:prstGeom>
          <a:noFill/>
        </p:spPr>
        <p:txBody>
          <a:bodyPr wrap="square" anchor="t" lIns="0" rIns="0" tIns="0" bIns="0">
            <a:spAutoFit/>
          </a:bodyPr>
          <a:lstStyle/>
          <a:p>
            <a:pPr algn="l"/>
            <a:r>
              <a:rPr sz="1050" b="0" i="0">
                <a:solidFill>
                  <a:srgbClr val="55625F"/>
                </a:solidFill>
                <a:latin typeface="Arial"/>
              </a:rPr>
              <a:t>online scam complaints to Sri Lanka Police in one year, to about 3,100</a:t>
            </a:r>
          </a:p>
        </p:txBody>
      </p:sp>
      <p:sp>
        <p:nvSpPr>
          <p:cNvPr id="82" name="Rounded Rectangle 81"/>
          <p:cNvSpPr/>
          <p:nvPr/>
        </p:nvSpPr>
        <p:spPr>
          <a:xfrm>
            <a:off x="274320" y="3154680"/>
            <a:ext cx="2011680"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402336" y="328269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02336" y="3282696"/>
            <a:ext cx="310896" cy="310896"/>
          </a:xfrm>
          <a:prstGeom prst="rect">
            <a:avLst/>
          </a:prstGeom>
          <a:noFill/>
        </p:spPr>
        <p:txBody>
          <a:bodyPr wrap="square" anchor="ctr" lIns="0" rIns="0" tIns="0" bIns="0">
            <a:spAutoFit/>
          </a:bodyPr>
          <a:lstStyle/>
          <a:p>
            <a:pPr algn="ctr"/>
            <a:r>
              <a:rPr sz="1100" b="1" i="0">
                <a:solidFill>
                  <a:srgbClr val="FFFFFF"/>
                </a:solidFill>
                <a:latin typeface="Arial"/>
              </a:rPr>
              <a:t>1</a:t>
            </a:r>
          </a:p>
        </p:txBody>
      </p:sp>
      <p:sp>
        <p:nvSpPr>
          <p:cNvPr id="85" name="TextBox 84"/>
          <p:cNvSpPr txBox="1"/>
          <p:nvPr/>
        </p:nvSpPr>
        <p:spPr>
          <a:xfrm>
            <a:off x="804672" y="3282696"/>
            <a:ext cx="1353312" cy="310896"/>
          </a:xfrm>
          <a:prstGeom prst="rect">
            <a:avLst/>
          </a:prstGeom>
          <a:noFill/>
        </p:spPr>
        <p:txBody>
          <a:bodyPr wrap="square" anchor="ctr" lIns="0" rIns="0" tIns="0" bIns="0">
            <a:spAutoFit/>
          </a:bodyPr>
          <a:lstStyle/>
          <a:p>
            <a:pPr algn="l"/>
            <a:r>
              <a:rPr sz="1300" b="1" i="0">
                <a:solidFill>
                  <a:srgbClr val="14201F"/>
                </a:solidFill>
                <a:latin typeface="Arial"/>
              </a:rPr>
              <a:t>Scam check</a:t>
            </a:r>
          </a:p>
        </p:txBody>
      </p:sp>
      <p:sp>
        <p:nvSpPr>
          <p:cNvPr id="86" name="TextBox 85"/>
          <p:cNvSpPr txBox="1"/>
          <p:nvPr/>
        </p:nvSpPr>
        <p:spPr>
          <a:xfrm>
            <a:off x="402336" y="3685032"/>
            <a:ext cx="1755648" cy="667511"/>
          </a:xfrm>
          <a:prstGeom prst="rect">
            <a:avLst/>
          </a:prstGeom>
          <a:noFill/>
        </p:spPr>
        <p:txBody>
          <a:bodyPr wrap="square" anchor="t" lIns="0" rIns="0" tIns="0" bIns="0">
            <a:spAutoFit/>
          </a:bodyPr>
          <a:lstStyle/>
          <a:p>
            <a:pPr algn="l">
              <a:spcAft>
                <a:spcPts val="300"/>
              </a:spcAft>
            </a:pPr>
            <a:r>
              <a:rPr sz="1100" b="0" i="0">
                <a:solidFill>
                  <a:srgbClr val="55625F"/>
                </a:solidFill>
                <a:latin typeface="Arial"/>
              </a:rPr>
              <a:t>Kamala pastes a WhatsApp offer: STOP, and why</a:t>
            </a:r>
          </a:p>
        </p:txBody>
      </p:sp>
      <p:sp>
        <p:nvSpPr>
          <p:cNvPr id="87" name="Chevron 86"/>
          <p:cNvSpPr/>
          <p:nvPr/>
        </p:nvSpPr>
        <p:spPr>
          <a:xfrm>
            <a:off x="2267712" y="3730752"/>
            <a:ext cx="164592"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2441448" y="3154680"/>
            <a:ext cx="2011680"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2569464" y="328269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2569464" y="3282696"/>
            <a:ext cx="310896" cy="310896"/>
          </a:xfrm>
          <a:prstGeom prst="rect">
            <a:avLst/>
          </a:prstGeom>
          <a:noFill/>
        </p:spPr>
        <p:txBody>
          <a:bodyPr wrap="square" anchor="ctr" lIns="0" rIns="0" tIns="0" bIns="0">
            <a:spAutoFit/>
          </a:bodyPr>
          <a:lstStyle/>
          <a:p>
            <a:pPr algn="ctr"/>
            <a:r>
              <a:rPr sz="1100" b="1" i="0">
                <a:solidFill>
                  <a:srgbClr val="FFFFFF"/>
                </a:solidFill>
                <a:latin typeface="Arial"/>
              </a:rPr>
              <a:t>2</a:t>
            </a:r>
          </a:p>
        </p:txBody>
      </p:sp>
      <p:sp>
        <p:nvSpPr>
          <p:cNvPr id="91" name="TextBox 90"/>
          <p:cNvSpPr txBox="1"/>
          <p:nvPr/>
        </p:nvSpPr>
        <p:spPr>
          <a:xfrm>
            <a:off x="2971800" y="3282696"/>
            <a:ext cx="1353312" cy="310896"/>
          </a:xfrm>
          <a:prstGeom prst="rect">
            <a:avLst/>
          </a:prstGeom>
          <a:noFill/>
        </p:spPr>
        <p:txBody>
          <a:bodyPr wrap="square" anchor="ctr" lIns="0" rIns="0" tIns="0" bIns="0">
            <a:spAutoFit/>
          </a:bodyPr>
          <a:lstStyle/>
          <a:p>
            <a:pPr algn="l"/>
            <a:r>
              <a:rPr sz="1300" b="1" i="0">
                <a:solidFill>
                  <a:srgbClr val="14201F"/>
                </a:solidFill>
                <a:latin typeface="Arial"/>
              </a:rPr>
              <a:t>Explained</a:t>
            </a:r>
          </a:p>
        </p:txBody>
      </p:sp>
      <p:sp>
        <p:nvSpPr>
          <p:cNvPr id="92" name="TextBox 91"/>
          <p:cNvSpPr txBox="1"/>
          <p:nvPr/>
        </p:nvSpPr>
        <p:spPr>
          <a:xfrm>
            <a:off x="2569464" y="3685032"/>
            <a:ext cx="1755648" cy="667511"/>
          </a:xfrm>
          <a:prstGeom prst="rect">
            <a:avLst/>
          </a:prstGeom>
          <a:noFill/>
        </p:spPr>
        <p:txBody>
          <a:bodyPr wrap="square" anchor="t" lIns="0" rIns="0" tIns="0" bIns="0">
            <a:spAutoFit/>
          </a:bodyPr>
          <a:lstStyle/>
          <a:p>
            <a:pPr algn="l">
              <a:spcAft>
                <a:spcPts val="300"/>
              </a:spcAft>
            </a:pPr>
            <a:r>
              <a:rPr sz="1100" b="0" i="0">
                <a:solidFill>
                  <a:srgbClr val="55625F"/>
                </a:solidFill>
                <a:latin typeface="Arial"/>
              </a:rPr>
              <a:t>She asks why, by voice, in Sinhala</a:t>
            </a:r>
          </a:p>
        </p:txBody>
      </p:sp>
      <p:sp>
        <p:nvSpPr>
          <p:cNvPr id="93" name="Chevron 92"/>
          <p:cNvSpPr/>
          <p:nvPr/>
        </p:nvSpPr>
        <p:spPr>
          <a:xfrm>
            <a:off x="4434840" y="3730752"/>
            <a:ext cx="164592"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4608576" y="3154680"/>
            <a:ext cx="2011680"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4736592" y="328269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4736592" y="3282696"/>
            <a:ext cx="310896" cy="310896"/>
          </a:xfrm>
          <a:prstGeom prst="rect">
            <a:avLst/>
          </a:prstGeom>
          <a:noFill/>
        </p:spPr>
        <p:txBody>
          <a:bodyPr wrap="square" anchor="ctr" lIns="0" rIns="0" tIns="0" bIns="0">
            <a:spAutoFit/>
          </a:bodyPr>
          <a:lstStyle/>
          <a:p>
            <a:pPr algn="ctr"/>
            <a:r>
              <a:rPr sz="1100" b="1" i="0">
                <a:solidFill>
                  <a:srgbClr val="FFFFFF"/>
                </a:solidFill>
                <a:latin typeface="Arial"/>
              </a:rPr>
              <a:t>3</a:t>
            </a:r>
          </a:p>
        </p:txBody>
      </p:sp>
      <p:sp>
        <p:nvSpPr>
          <p:cNvPr id="97" name="TextBox 96"/>
          <p:cNvSpPr txBox="1"/>
          <p:nvPr/>
        </p:nvSpPr>
        <p:spPr>
          <a:xfrm>
            <a:off x="5138928" y="3282696"/>
            <a:ext cx="1353312" cy="310896"/>
          </a:xfrm>
          <a:prstGeom prst="rect">
            <a:avLst/>
          </a:prstGeom>
          <a:noFill/>
        </p:spPr>
        <p:txBody>
          <a:bodyPr wrap="square" anchor="ctr" lIns="0" rIns="0" tIns="0" bIns="0">
            <a:spAutoFit/>
          </a:bodyPr>
          <a:lstStyle/>
          <a:p>
            <a:pPr algn="l"/>
            <a:r>
              <a:rPr sz="1300" b="1" i="0">
                <a:solidFill>
                  <a:srgbClr val="14201F"/>
                </a:solidFill>
                <a:latin typeface="Arial"/>
              </a:rPr>
              <a:t>Cash plan</a:t>
            </a:r>
          </a:p>
        </p:txBody>
      </p:sp>
      <p:sp>
        <p:nvSpPr>
          <p:cNvPr id="98" name="TextBox 97"/>
          <p:cNvSpPr txBox="1"/>
          <p:nvPr/>
        </p:nvSpPr>
        <p:spPr>
          <a:xfrm>
            <a:off x="4736592" y="3685032"/>
            <a:ext cx="1755648" cy="667511"/>
          </a:xfrm>
          <a:prstGeom prst="rect">
            <a:avLst/>
          </a:prstGeom>
          <a:noFill/>
        </p:spPr>
        <p:txBody>
          <a:bodyPr wrap="square" anchor="t" lIns="0" rIns="0" tIns="0" bIns="0">
            <a:spAutoFit/>
          </a:bodyPr>
          <a:lstStyle/>
          <a:p>
            <a:pPr algn="l">
              <a:spcAft>
                <a:spcPts val="300"/>
              </a:spcAft>
            </a:pPr>
            <a:r>
              <a:rPr sz="1100" b="0" i="0">
                <a:solidFill>
                  <a:srgbClr val="55625F"/>
                </a:solidFill>
                <a:latin typeface="Arial"/>
              </a:rPr>
              <a:t>Rs 300,000 for school fees, at the lowest loss</a:t>
            </a:r>
          </a:p>
        </p:txBody>
      </p:sp>
      <p:sp>
        <p:nvSpPr>
          <p:cNvPr id="99" name="Chevron 98"/>
          <p:cNvSpPr/>
          <p:nvPr/>
        </p:nvSpPr>
        <p:spPr>
          <a:xfrm>
            <a:off x="6601968" y="3730752"/>
            <a:ext cx="164592"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6775704" y="3154680"/>
            <a:ext cx="2011680"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6903720" y="328269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6903720" y="3282696"/>
            <a:ext cx="310896" cy="310896"/>
          </a:xfrm>
          <a:prstGeom prst="rect">
            <a:avLst/>
          </a:prstGeom>
          <a:noFill/>
        </p:spPr>
        <p:txBody>
          <a:bodyPr wrap="square" anchor="ctr" lIns="0" rIns="0" tIns="0" bIns="0">
            <a:spAutoFit/>
          </a:bodyPr>
          <a:lstStyle/>
          <a:p>
            <a:pPr algn="ctr"/>
            <a:r>
              <a:rPr sz="1100" b="1" i="0">
                <a:solidFill>
                  <a:srgbClr val="FFFFFF"/>
                </a:solidFill>
                <a:latin typeface="Arial"/>
              </a:rPr>
              <a:t>4</a:t>
            </a:r>
          </a:p>
        </p:txBody>
      </p:sp>
      <p:sp>
        <p:nvSpPr>
          <p:cNvPr id="103" name="TextBox 102"/>
          <p:cNvSpPr txBox="1"/>
          <p:nvPr/>
        </p:nvSpPr>
        <p:spPr>
          <a:xfrm>
            <a:off x="7306056" y="3282696"/>
            <a:ext cx="1353312" cy="310896"/>
          </a:xfrm>
          <a:prstGeom prst="rect">
            <a:avLst/>
          </a:prstGeom>
          <a:noFill/>
        </p:spPr>
        <p:txBody>
          <a:bodyPr wrap="square" anchor="ctr" lIns="0" rIns="0" tIns="0" bIns="0">
            <a:spAutoFit/>
          </a:bodyPr>
          <a:lstStyle/>
          <a:p>
            <a:pPr algn="l"/>
            <a:r>
              <a:rPr sz="1300" b="1" i="0">
                <a:solidFill>
                  <a:srgbClr val="14201F"/>
                </a:solidFill>
                <a:latin typeface="Arial"/>
              </a:rPr>
              <a:t>Sealed</a:t>
            </a:r>
          </a:p>
        </p:txBody>
      </p:sp>
      <p:sp>
        <p:nvSpPr>
          <p:cNvPr id="104" name="TextBox 103"/>
          <p:cNvSpPr txBox="1"/>
          <p:nvPr/>
        </p:nvSpPr>
        <p:spPr>
          <a:xfrm>
            <a:off x="6903720" y="3685032"/>
            <a:ext cx="1755648" cy="667511"/>
          </a:xfrm>
          <a:prstGeom prst="rect">
            <a:avLst/>
          </a:prstGeom>
          <a:noFill/>
        </p:spPr>
        <p:txBody>
          <a:bodyPr wrap="square" anchor="t" lIns="0" rIns="0" tIns="0" bIns="0">
            <a:spAutoFit/>
          </a:bodyPr>
          <a:lstStyle/>
          <a:p>
            <a:pPr algn="l">
              <a:spcAft>
                <a:spcPts val="300"/>
              </a:spcAft>
            </a:pPr>
            <a:r>
              <a:rPr sz="1100" b="0" i="0">
                <a:solidFill>
                  <a:srgbClr val="55625F"/>
                </a:solidFill>
                <a:latin typeface="Arial"/>
              </a:rPr>
              <a:t>A new payee needs fresh proof; every decision is recorded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274320" y="1188720"/>
            <a:ext cx="2743200" cy="329184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438912" y="1325880"/>
            <a:ext cx="2423160" cy="320040"/>
          </a:xfrm>
          <a:prstGeom prst="rect">
            <a:avLst/>
          </a:prstGeom>
          <a:noFill/>
        </p:spPr>
        <p:txBody>
          <a:bodyPr wrap="square" anchor="t" lIns="0" rIns="0" tIns="0" bIns="0">
            <a:spAutoFit/>
          </a:bodyPr>
          <a:lstStyle/>
          <a:p>
            <a:pPr algn="l"/>
            <a:r>
              <a:rPr sz="1400" b="1" i="0">
                <a:solidFill>
                  <a:srgbClr val="14201F"/>
                </a:solidFill>
                <a:latin typeface="Arial"/>
              </a:rPr>
              <a:t>How it differs</a:t>
            </a:r>
          </a:p>
        </p:txBody>
      </p:sp>
      <p:sp>
        <p:nvSpPr>
          <p:cNvPr id="82" name="TextBox 81"/>
          <p:cNvSpPr txBox="1"/>
          <p:nvPr/>
        </p:nvSpPr>
        <p:spPr>
          <a:xfrm>
            <a:off x="438912" y="1737360"/>
            <a:ext cx="2423160" cy="3063240"/>
          </a:xfrm>
          <a:prstGeom prst="rect">
            <a:avLst/>
          </a:prstGeom>
          <a:noFill/>
        </p:spPr>
        <p:txBody>
          <a:bodyPr wrap="square" anchor="t" lIns="0" rIns="0" tIns="0" bIns="0">
            <a:spAutoFit/>
          </a:bodyPr>
          <a:lstStyle/>
          <a:p>
            <a:pPr algn="l">
              <a:spcAft>
                <a:spcPts val="700"/>
              </a:spcAft>
            </a:pPr>
            <a:r>
              <a:rPr sz="1150" b="1" i="0">
                <a:solidFill>
                  <a:srgbClr val="0B6E4F"/>
                </a:solidFill>
                <a:latin typeface="Arial"/>
              </a:rPr>
              <a:t>•  </a:t>
            </a:r>
            <a:r>
              <a:rPr sz="1150" b="0" i="0">
                <a:solidFill>
                  <a:srgbClr val="14201F"/>
                </a:solidFill>
                <a:latin typeface="Arial"/>
              </a:rPr>
              <a:t>Acts before the transfer, not after the loss</a:t>
            </a:r>
          </a:p>
          <a:p>
            <a:pPr algn="l">
              <a:spcAft>
                <a:spcPts val="700"/>
              </a:spcAft>
            </a:pPr>
            <a:r>
              <a:rPr sz="1150" b="1" i="0">
                <a:solidFill>
                  <a:srgbClr val="0B6E4F"/>
                </a:solidFill>
                <a:latin typeface="Arial"/>
              </a:rPr>
              <a:t>•  </a:t>
            </a:r>
            <a:r>
              <a:rPr sz="1150" b="0" i="0">
                <a:solidFill>
                  <a:srgbClr val="14201F"/>
                </a:solidFill>
                <a:latin typeface="Arial"/>
              </a:rPr>
              <a:t>The AI never has the final say: Gemini reads red flags, a versioned policy decides</a:t>
            </a:r>
          </a:p>
          <a:p>
            <a:pPr algn="l">
              <a:spcAft>
                <a:spcPts val="700"/>
              </a:spcAft>
            </a:pPr>
            <a:r>
              <a:rPr sz="1150" b="1" i="0">
                <a:solidFill>
                  <a:srgbClr val="0B6E4F"/>
                </a:solidFill>
                <a:latin typeface="Arial"/>
              </a:rPr>
              <a:t>•  </a:t>
            </a:r>
            <a:r>
              <a:rPr sz="1150" b="0" i="0">
                <a:solidFill>
                  <a:srgbClr val="14201F"/>
                </a:solidFill>
                <a:latin typeface="Arial"/>
              </a:rPr>
              <a:t>No ungrounded numbers: answers with figures no tool produced are rejected</a:t>
            </a:r>
          </a:p>
          <a:p>
            <a:pPr algn="l">
              <a:spcAft>
                <a:spcPts val="700"/>
              </a:spcAft>
            </a:pPr>
            <a:r>
              <a:rPr sz="1150" b="1" i="0">
                <a:solidFill>
                  <a:srgbClr val="0B6E4F"/>
                </a:solidFill>
                <a:latin typeface="Arial"/>
              </a:rPr>
              <a:t>•  </a:t>
            </a:r>
            <a:r>
              <a:rPr sz="1150" b="0" i="0">
                <a:solidFill>
                  <a:srgbClr val="14201F"/>
                </a:solidFill>
                <a:latin typeface="Arial"/>
              </a:rPr>
              <a:t>Every decision is sealed with its model and policy, on a smart contract</a:t>
            </a:r>
          </a:p>
        </p:txBody>
      </p:sp>
      <p:sp>
        <p:nvSpPr>
          <p:cNvPr id="83" name="Rounded Rectangle 82"/>
          <p:cNvSpPr/>
          <p:nvPr/>
        </p:nvSpPr>
        <p:spPr>
          <a:xfrm>
            <a:off x="3163824" y="1188720"/>
            <a:ext cx="2743200" cy="329184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3328416" y="1325880"/>
            <a:ext cx="2423160" cy="320040"/>
          </a:xfrm>
          <a:prstGeom prst="rect">
            <a:avLst/>
          </a:prstGeom>
          <a:noFill/>
        </p:spPr>
        <p:txBody>
          <a:bodyPr wrap="square" anchor="t" lIns="0" rIns="0" tIns="0" bIns="0">
            <a:spAutoFit/>
          </a:bodyPr>
          <a:lstStyle/>
          <a:p>
            <a:pPr algn="l"/>
            <a:r>
              <a:rPr sz="1400" b="1" i="0">
                <a:solidFill>
                  <a:srgbClr val="14201F"/>
                </a:solidFill>
                <a:latin typeface="Arial"/>
              </a:rPr>
              <a:t>How it solves the problem</a:t>
            </a:r>
          </a:p>
        </p:txBody>
      </p:sp>
      <p:sp>
        <p:nvSpPr>
          <p:cNvPr id="85" name="TextBox 84"/>
          <p:cNvSpPr txBox="1"/>
          <p:nvPr/>
        </p:nvSpPr>
        <p:spPr>
          <a:xfrm>
            <a:off x="3328416" y="1737360"/>
            <a:ext cx="2423160" cy="3063240"/>
          </a:xfrm>
          <a:prstGeom prst="rect">
            <a:avLst/>
          </a:prstGeom>
          <a:noFill/>
        </p:spPr>
        <p:txBody>
          <a:bodyPr wrap="square" anchor="t" lIns="0" rIns="0" tIns="0" bIns="0">
            <a:spAutoFit/>
          </a:bodyPr>
          <a:lstStyle/>
          <a:p>
            <a:pPr algn="l">
              <a:spcAft>
                <a:spcPts val="700"/>
              </a:spcAft>
            </a:pPr>
            <a:r>
              <a:rPr sz="1150" b="1" i="0">
                <a:solidFill>
                  <a:srgbClr val="0B6E4F"/>
                </a:solidFill>
                <a:latin typeface="Arial"/>
              </a:rPr>
              <a:t>•  </a:t>
            </a:r>
            <a:r>
              <a:rPr sz="1150" b="0" i="0">
                <a:solidFill>
                  <a:srgbClr val="14201F"/>
                </a:solidFill>
                <a:latin typeface="Arial"/>
              </a:rPr>
              <a:t>Plain-language verdicts with what to do next, in the user's language</a:t>
            </a:r>
          </a:p>
          <a:p>
            <a:pPr algn="l">
              <a:spcAft>
                <a:spcPts val="700"/>
              </a:spcAft>
            </a:pPr>
            <a:r>
              <a:rPr sz="1150" b="1" i="0">
                <a:solidFill>
                  <a:srgbClr val="0B6E4F"/>
                </a:solidFill>
                <a:latin typeface="Arial"/>
              </a:rPr>
              <a:t>•  </a:t>
            </a:r>
            <a:r>
              <a:rPr sz="1150" b="0" i="0">
                <a:solidFill>
                  <a:srgbClr val="14201F"/>
                </a:solidFill>
                <a:latin typeface="Arial"/>
              </a:rPr>
              <a:t>Step-up proof for risky transfers, even inside a valid session</a:t>
            </a:r>
          </a:p>
          <a:p>
            <a:pPr algn="l">
              <a:spcAft>
                <a:spcPts val="700"/>
              </a:spcAft>
            </a:pPr>
            <a:r>
              <a:rPr sz="1150" b="1" i="0">
                <a:solidFill>
                  <a:srgbClr val="0B6E4F"/>
                </a:solidFill>
                <a:latin typeface="Arial"/>
              </a:rPr>
              <a:t>•  </a:t>
            </a:r>
            <a:r>
              <a:rPr sz="1150" b="0" i="0">
                <a:solidFill>
                  <a:srgbClr val="14201F"/>
                </a:solidFill>
                <a:latin typeface="Arial"/>
              </a:rPr>
              <a:t>A cash planner that shows its saving against selling everything at once</a:t>
            </a:r>
          </a:p>
          <a:p>
            <a:pPr algn="l">
              <a:spcAft>
                <a:spcPts val="700"/>
              </a:spcAft>
            </a:pPr>
            <a:r>
              <a:rPr sz="1150" b="1" i="0">
                <a:solidFill>
                  <a:srgbClr val="0B6E4F"/>
                </a:solidFill>
                <a:latin typeface="Arial"/>
              </a:rPr>
              <a:t>•  </a:t>
            </a:r>
            <a:r>
              <a:rPr sz="1150" b="0" i="0">
                <a:solidFill>
                  <a:srgbClr val="14201F"/>
                </a:solidFill>
                <a:latin typeface="Arial"/>
              </a:rPr>
              <a:t>Banks and regulators read every decision over standard OData</a:t>
            </a:r>
          </a:p>
        </p:txBody>
      </p:sp>
      <p:sp>
        <p:nvSpPr>
          <p:cNvPr id="86" name="Rounded Rectangle 85"/>
          <p:cNvSpPr/>
          <p:nvPr/>
        </p:nvSpPr>
        <p:spPr>
          <a:xfrm>
            <a:off x="6053328" y="1188720"/>
            <a:ext cx="2743200" cy="329184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6217920" y="1325880"/>
            <a:ext cx="2423160" cy="320040"/>
          </a:xfrm>
          <a:prstGeom prst="rect">
            <a:avLst/>
          </a:prstGeom>
          <a:noFill/>
        </p:spPr>
        <p:txBody>
          <a:bodyPr wrap="square" anchor="t" lIns="0" rIns="0" tIns="0" bIns="0">
            <a:spAutoFit/>
          </a:bodyPr>
          <a:lstStyle/>
          <a:p>
            <a:pPr algn="l"/>
            <a:r>
              <a:rPr sz="1400" b="1" i="0">
                <a:solidFill>
                  <a:srgbClr val="0B6E4F"/>
                </a:solidFill>
                <a:latin typeface="Arial"/>
              </a:rPr>
              <a:t>USP</a:t>
            </a:r>
          </a:p>
        </p:txBody>
      </p:sp>
      <p:sp>
        <p:nvSpPr>
          <p:cNvPr id="88" name="TextBox 87"/>
          <p:cNvSpPr txBox="1"/>
          <p:nvPr/>
        </p:nvSpPr>
        <p:spPr>
          <a:xfrm>
            <a:off x="6217920" y="1737360"/>
            <a:ext cx="2423160" cy="3063240"/>
          </a:xfrm>
          <a:prstGeom prst="rect">
            <a:avLst/>
          </a:prstGeom>
          <a:noFill/>
        </p:spPr>
        <p:txBody>
          <a:bodyPr wrap="square" anchor="t" lIns="0" rIns="0" tIns="0" bIns="0">
            <a:spAutoFit/>
          </a:bodyPr>
          <a:lstStyle/>
          <a:p>
            <a:pPr algn="l">
              <a:spcAft>
                <a:spcPts val="700"/>
              </a:spcAft>
            </a:pPr>
            <a:r>
              <a:rPr sz="1150" b="1" i="0">
                <a:solidFill>
                  <a:srgbClr val="0B6E4F"/>
                </a:solidFill>
                <a:latin typeface="Arial"/>
              </a:rPr>
              <a:t>•  </a:t>
            </a:r>
            <a:r>
              <a:rPr sz="1150" b="0" i="0">
                <a:solidFill>
                  <a:srgbClr val="14201F"/>
                </a:solidFill>
                <a:latin typeface="Arial"/>
              </a:rPr>
              <a:t>One flow: check the offer, understand it, plan the cash, prove it later</a:t>
            </a:r>
          </a:p>
          <a:p>
            <a:pPr algn="l">
              <a:spcAft>
                <a:spcPts val="700"/>
              </a:spcAft>
            </a:pPr>
            <a:r>
              <a:rPr sz="1150" b="1" i="0">
                <a:solidFill>
                  <a:srgbClr val="0B6E4F"/>
                </a:solidFill>
                <a:latin typeface="Arial"/>
              </a:rPr>
              <a:t>•  </a:t>
            </a:r>
            <a:r>
              <a:rPr sz="1150" b="0" i="0">
                <a:solidFill>
                  <a:srgbClr val="14201F"/>
                </a:solidFill>
                <a:latin typeface="Arial"/>
              </a:rPr>
              <a:t>Scam knowledge in Google's Open Knowledge Format, with sources and trust tiers</a:t>
            </a:r>
          </a:p>
          <a:p>
            <a:pPr algn="l">
              <a:spcAft>
                <a:spcPts val="700"/>
              </a:spcAft>
            </a:pPr>
            <a:r>
              <a:rPr sz="1150" b="1" i="0">
                <a:solidFill>
                  <a:srgbClr val="0B6E4F"/>
                </a:solidFill>
                <a:latin typeface="Arial"/>
              </a:rPr>
              <a:t>•  </a:t>
            </a:r>
            <a:r>
              <a:rPr sz="1150" b="0" i="0">
                <a:solidFill>
                  <a:srgbClr val="14201F"/>
                </a:solidFill>
                <a:latin typeface="Arial"/>
              </a:rPr>
              <a:t>Built for Sri Lanka first: CSE stocks, LKR, Sinhala and Tamil</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18872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402336" y="131673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402336" y="1316736"/>
            <a:ext cx="310896" cy="310896"/>
          </a:xfrm>
          <a:prstGeom prst="rect">
            <a:avLst/>
          </a:prstGeom>
          <a:noFill/>
        </p:spPr>
        <p:txBody>
          <a:bodyPr wrap="square" anchor="ctr" lIns="0" rIns="0" tIns="0" bIns="0">
            <a:spAutoFit/>
          </a:bodyPr>
          <a:lstStyle/>
          <a:p>
            <a:pPr algn="ctr"/>
            <a:r>
              <a:rPr sz="1100" b="1" i="0">
                <a:solidFill>
                  <a:srgbClr val="FFFFFF"/>
                </a:solidFill>
                <a:latin typeface="Arial"/>
              </a:rPr>
              <a:t>1</a:t>
            </a:r>
          </a:p>
        </p:txBody>
      </p:sp>
      <p:sp>
        <p:nvSpPr>
          <p:cNvPr id="91" name="TextBox 90"/>
          <p:cNvSpPr txBox="1"/>
          <p:nvPr/>
        </p:nvSpPr>
        <p:spPr>
          <a:xfrm>
            <a:off x="804672" y="1316736"/>
            <a:ext cx="2084831" cy="310896"/>
          </a:xfrm>
          <a:prstGeom prst="rect">
            <a:avLst/>
          </a:prstGeom>
          <a:noFill/>
        </p:spPr>
        <p:txBody>
          <a:bodyPr wrap="square" anchor="ctr" lIns="0" rIns="0" tIns="0" bIns="0">
            <a:spAutoFit/>
          </a:bodyPr>
          <a:lstStyle/>
          <a:p>
            <a:pPr algn="l"/>
            <a:r>
              <a:rPr sz="1300" b="1" i="0">
                <a:solidFill>
                  <a:srgbClr val="14201F"/>
                </a:solidFill>
                <a:latin typeface="Arial"/>
              </a:rPr>
              <a:t>Scam Shield</a:t>
            </a:r>
          </a:p>
        </p:txBody>
      </p:sp>
      <p:sp>
        <p:nvSpPr>
          <p:cNvPr id="92" name="TextBox 91"/>
          <p:cNvSpPr txBox="1"/>
          <p:nvPr/>
        </p:nvSpPr>
        <p:spPr>
          <a:xfrm>
            <a:off x="402336" y="1719072"/>
            <a:ext cx="2487168" cy="896112"/>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Paste any WhatsApp, SMS or email offer. Gemini reads the red flags, policy SHIELD-P001 decides, and the verdict is a STOP / CHECK / CLEAR stamp with what to do next.</a:t>
            </a:r>
          </a:p>
        </p:txBody>
      </p:sp>
      <p:sp>
        <p:nvSpPr>
          <p:cNvPr id="93" name="Rounded Rectangle 92"/>
          <p:cNvSpPr/>
          <p:nvPr/>
        </p:nvSpPr>
        <p:spPr>
          <a:xfrm>
            <a:off x="3163824" y="118872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3291840" y="131673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291840" y="1316736"/>
            <a:ext cx="310896" cy="310896"/>
          </a:xfrm>
          <a:prstGeom prst="rect">
            <a:avLst/>
          </a:prstGeom>
          <a:noFill/>
        </p:spPr>
        <p:txBody>
          <a:bodyPr wrap="square" anchor="ctr" lIns="0" rIns="0" tIns="0" bIns="0">
            <a:spAutoFit/>
          </a:bodyPr>
          <a:lstStyle/>
          <a:p>
            <a:pPr algn="ctr"/>
            <a:r>
              <a:rPr sz="1100" b="1" i="0">
                <a:solidFill>
                  <a:srgbClr val="FFFFFF"/>
                </a:solidFill>
                <a:latin typeface="Arial"/>
              </a:rPr>
              <a:t>2</a:t>
            </a:r>
          </a:p>
        </p:txBody>
      </p:sp>
      <p:sp>
        <p:nvSpPr>
          <p:cNvPr id="96" name="TextBox 95"/>
          <p:cNvSpPr txBox="1"/>
          <p:nvPr/>
        </p:nvSpPr>
        <p:spPr>
          <a:xfrm>
            <a:off x="3694176" y="1316736"/>
            <a:ext cx="2084831" cy="310896"/>
          </a:xfrm>
          <a:prstGeom prst="rect">
            <a:avLst/>
          </a:prstGeom>
          <a:noFill/>
        </p:spPr>
        <p:txBody>
          <a:bodyPr wrap="square" anchor="ctr" lIns="0" rIns="0" tIns="0" bIns="0">
            <a:spAutoFit/>
          </a:bodyPr>
          <a:lstStyle/>
          <a:p>
            <a:pPr algn="l"/>
            <a:r>
              <a:rPr sz="1300" b="1" i="0">
                <a:solidFill>
                  <a:srgbClr val="14201F"/>
                </a:solidFill>
                <a:latin typeface="Arial"/>
              </a:rPr>
              <a:t>Explainable assistant</a:t>
            </a:r>
          </a:p>
        </p:txBody>
      </p:sp>
      <p:sp>
        <p:nvSpPr>
          <p:cNvPr id="97" name="TextBox 96"/>
          <p:cNvSpPr txBox="1"/>
          <p:nvPr/>
        </p:nvSpPr>
        <p:spPr>
          <a:xfrm>
            <a:off x="3291840" y="1719072"/>
            <a:ext cx="2487168" cy="896112"/>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Ask why, by text or voice, in Sinhala, Tamil or English. Gemini answers with the platform's own tools; figures are checked before you see them.</a:t>
            </a:r>
          </a:p>
        </p:txBody>
      </p:sp>
      <p:sp>
        <p:nvSpPr>
          <p:cNvPr id="98" name="Rounded Rectangle 97"/>
          <p:cNvSpPr/>
          <p:nvPr/>
        </p:nvSpPr>
        <p:spPr>
          <a:xfrm>
            <a:off x="6053328" y="118872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6181344" y="131673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6181344" y="1316736"/>
            <a:ext cx="310896" cy="310896"/>
          </a:xfrm>
          <a:prstGeom prst="rect">
            <a:avLst/>
          </a:prstGeom>
          <a:noFill/>
        </p:spPr>
        <p:txBody>
          <a:bodyPr wrap="square" anchor="ctr" lIns="0" rIns="0" tIns="0" bIns="0">
            <a:spAutoFit/>
          </a:bodyPr>
          <a:lstStyle/>
          <a:p>
            <a:pPr algn="ctr"/>
            <a:r>
              <a:rPr sz="1100" b="1" i="0">
                <a:solidFill>
                  <a:srgbClr val="FFFFFF"/>
                </a:solidFill>
                <a:latin typeface="Arial"/>
              </a:rPr>
              <a:t>3</a:t>
            </a:r>
          </a:p>
        </p:txBody>
      </p:sp>
      <p:sp>
        <p:nvSpPr>
          <p:cNvPr id="101" name="TextBox 100"/>
          <p:cNvSpPr txBox="1"/>
          <p:nvPr/>
        </p:nvSpPr>
        <p:spPr>
          <a:xfrm>
            <a:off x="6583680" y="1316736"/>
            <a:ext cx="2084831" cy="310896"/>
          </a:xfrm>
          <a:prstGeom prst="rect">
            <a:avLst/>
          </a:prstGeom>
          <a:noFill/>
        </p:spPr>
        <p:txBody>
          <a:bodyPr wrap="square" anchor="ctr" lIns="0" rIns="0" tIns="0" bIns="0">
            <a:spAutoFit/>
          </a:bodyPr>
          <a:lstStyle/>
          <a:p>
            <a:pPr algn="l"/>
            <a:r>
              <a:rPr sz="1300" b="1" i="0">
                <a:solidFill>
                  <a:srgbClr val="14201F"/>
                </a:solidFill>
                <a:latin typeface="Arial"/>
              </a:rPr>
              <a:t>Cash planner</a:t>
            </a:r>
          </a:p>
        </p:txBody>
      </p:sp>
      <p:sp>
        <p:nvSpPr>
          <p:cNvPr id="102" name="TextBox 101"/>
          <p:cNvSpPr txBox="1"/>
          <p:nvPr/>
        </p:nvSpPr>
        <p:spPr>
          <a:xfrm>
            <a:off x="6181344" y="1719072"/>
            <a:ext cx="2487168" cy="896112"/>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Raise an amount by a deadline at the lowest loss: fuzzy rules and a genetic algorithm, costed against three naive baselines.</a:t>
            </a:r>
          </a:p>
        </p:txBody>
      </p:sp>
      <p:sp>
        <p:nvSpPr>
          <p:cNvPr id="103" name="Rounded Rectangle 102"/>
          <p:cNvSpPr/>
          <p:nvPr/>
        </p:nvSpPr>
        <p:spPr>
          <a:xfrm>
            <a:off x="274320" y="288036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402336" y="300837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402336" y="3008376"/>
            <a:ext cx="310896" cy="310896"/>
          </a:xfrm>
          <a:prstGeom prst="rect">
            <a:avLst/>
          </a:prstGeom>
          <a:noFill/>
        </p:spPr>
        <p:txBody>
          <a:bodyPr wrap="square" anchor="ctr" lIns="0" rIns="0" tIns="0" bIns="0">
            <a:spAutoFit/>
          </a:bodyPr>
          <a:lstStyle/>
          <a:p>
            <a:pPr algn="ctr"/>
            <a:r>
              <a:rPr sz="1100" b="1" i="0">
                <a:solidFill>
                  <a:srgbClr val="FFFFFF"/>
                </a:solidFill>
                <a:latin typeface="Arial"/>
              </a:rPr>
              <a:t>4</a:t>
            </a:r>
          </a:p>
        </p:txBody>
      </p:sp>
      <p:sp>
        <p:nvSpPr>
          <p:cNvPr id="106" name="TextBox 105"/>
          <p:cNvSpPr txBox="1"/>
          <p:nvPr/>
        </p:nvSpPr>
        <p:spPr>
          <a:xfrm>
            <a:off x="804672" y="3008376"/>
            <a:ext cx="2084831" cy="310896"/>
          </a:xfrm>
          <a:prstGeom prst="rect">
            <a:avLst/>
          </a:prstGeom>
          <a:noFill/>
        </p:spPr>
        <p:txBody>
          <a:bodyPr wrap="square" anchor="ctr" lIns="0" rIns="0" tIns="0" bIns="0">
            <a:spAutoFit/>
          </a:bodyPr>
          <a:lstStyle/>
          <a:p>
            <a:pPr algn="l"/>
            <a:r>
              <a:rPr sz="1300" b="1" i="0">
                <a:solidFill>
                  <a:srgbClr val="14201F"/>
                </a:solidFill>
                <a:latin typeface="Arial"/>
              </a:rPr>
              <a:t>Zero-trust transfers</a:t>
            </a:r>
          </a:p>
        </p:txBody>
      </p:sp>
      <p:sp>
        <p:nvSpPr>
          <p:cNvPr id="107" name="TextBox 106"/>
          <p:cNvSpPr txBox="1"/>
          <p:nvPr/>
        </p:nvSpPr>
        <p:spPr>
          <a:xfrm>
            <a:off x="402336" y="3410712"/>
            <a:ext cx="2487168" cy="896111"/>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Every service verifies every request (RS256, per-service audiences, roles). A risky transfer triggers a one-time-code step-up.</a:t>
            </a:r>
          </a:p>
        </p:txBody>
      </p:sp>
      <p:sp>
        <p:nvSpPr>
          <p:cNvPr id="108" name="Rounded Rectangle 107"/>
          <p:cNvSpPr/>
          <p:nvPr/>
        </p:nvSpPr>
        <p:spPr>
          <a:xfrm>
            <a:off x="3163824" y="288036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3291840" y="300837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3291840" y="3008376"/>
            <a:ext cx="310896" cy="310896"/>
          </a:xfrm>
          <a:prstGeom prst="rect">
            <a:avLst/>
          </a:prstGeom>
          <a:noFill/>
        </p:spPr>
        <p:txBody>
          <a:bodyPr wrap="square" anchor="ctr" lIns="0" rIns="0" tIns="0" bIns="0">
            <a:spAutoFit/>
          </a:bodyPr>
          <a:lstStyle/>
          <a:p>
            <a:pPr algn="ctr"/>
            <a:r>
              <a:rPr sz="1100" b="1" i="0">
                <a:solidFill>
                  <a:srgbClr val="FFFFFF"/>
                </a:solidFill>
                <a:latin typeface="Arial"/>
              </a:rPr>
              <a:t>5</a:t>
            </a:r>
          </a:p>
        </p:txBody>
      </p:sp>
      <p:sp>
        <p:nvSpPr>
          <p:cNvPr id="111" name="TextBox 110"/>
          <p:cNvSpPr txBox="1"/>
          <p:nvPr/>
        </p:nvSpPr>
        <p:spPr>
          <a:xfrm>
            <a:off x="3694176" y="3008376"/>
            <a:ext cx="2084831" cy="310896"/>
          </a:xfrm>
          <a:prstGeom prst="rect">
            <a:avLst/>
          </a:prstGeom>
          <a:noFill/>
        </p:spPr>
        <p:txBody>
          <a:bodyPr wrap="square" anchor="ctr" lIns="0" rIns="0" tIns="0" bIns="0">
            <a:spAutoFit/>
          </a:bodyPr>
          <a:lstStyle/>
          <a:p>
            <a:pPr algn="l"/>
            <a:r>
              <a:rPr sz="1300" b="1" i="0">
                <a:solidFill>
                  <a:srgbClr val="14201F"/>
                </a:solidFill>
                <a:latin typeface="Arial"/>
              </a:rPr>
              <a:t>Tamper-evident audit</a:t>
            </a:r>
          </a:p>
        </p:txBody>
      </p:sp>
      <p:sp>
        <p:nvSpPr>
          <p:cNvPr id="112" name="TextBox 111"/>
          <p:cNvSpPr txBox="1"/>
          <p:nvPr/>
        </p:nvSpPr>
        <p:spPr>
          <a:xfrm>
            <a:off x="3291840" y="3410712"/>
            <a:ext cx="2487168" cy="896111"/>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Each decision is hashed with its model and policy and anchored in a smart contract. Change one field and verification fails.</a:t>
            </a:r>
          </a:p>
        </p:txBody>
      </p:sp>
      <p:sp>
        <p:nvSpPr>
          <p:cNvPr id="113" name="Rounded Rectangle 112"/>
          <p:cNvSpPr/>
          <p:nvPr/>
        </p:nvSpPr>
        <p:spPr>
          <a:xfrm>
            <a:off x="6053328" y="288036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6181344" y="300837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181344" y="3008376"/>
            <a:ext cx="310896" cy="310896"/>
          </a:xfrm>
          <a:prstGeom prst="rect">
            <a:avLst/>
          </a:prstGeom>
          <a:noFill/>
        </p:spPr>
        <p:txBody>
          <a:bodyPr wrap="square" anchor="ctr" lIns="0" rIns="0" tIns="0" bIns="0">
            <a:spAutoFit/>
          </a:bodyPr>
          <a:lstStyle/>
          <a:p>
            <a:pPr algn="ctr"/>
            <a:r>
              <a:rPr sz="1100" b="1" i="0">
                <a:solidFill>
                  <a:srgbClr val="FFFFFF"/>
                </a:solidFill>
                <a:latin typeface="Arial"/>
              </a:rPr>
              <a:t>6</a:t>
            </a:r>
          </a:p>
        </p:txBody>
      </p:sp>
      <p:sp>
        <p:nvSpPr>
          <p:cNvPr id="116" name="TextBox 115"/>
          <p:cNvSpPr txBox="1"/>
          <p:nvPr/>
        </p:nvSpPr>
        <p:spPr>
          <a:xfrm>
            <a:off x="6583680" y="3008376"/>
            <a:ext cx="2084831" cy="310896"/>
          </a:xfrm>
          <a:prstGeom prst="rect">
            <a:avLst/>
          </a:prstGeom>
          <a:noFill/>
        </p:spPr>
        <p:txBody>
          <a:bodyPr wrap="square" anchor="ctr" lIns="0" rIns="0" tIns="0" bIns="0">
            <a:spAutoFit/>
          </a:bodyPr>
          <a:lstStyle/>
          <a:p>
            <a:pPr algn="l"/>
            <a:r>
              <a:rPr sz="1300" b="1" i="0">
                <a:solidFill>
                  <a:srgbClr val="14201F"/>
                </a:solidFill>
                <a:latin typeface="Arial"/>
              </a:rPr>
              <a:t>Open by standard</a:t>
            </a:r>
          </a:p>
        </p:txBody>
      </p:sp>
      <p:sp>
        <p:nvSpPr>
          <p:cNvPr id="117" name="TextBox 116"/>
          <p:cNvSpPr txBox="1"/>
          <p:nvPr/>
        </p:nvSpPr>
        <p:spPr>
          <a:xfrm>
            <a:off x="6181344" y="3410712"/>
            <a:ext cx="2487168" cy="896111"/>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Scam patterns in Google's Open Knowledge Format; every service speaks OData v4 so banks can plug in.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Medium"/>
                <a:ea typeface="Google Sans Flex Medium"/>
                <a:cs typeface="Google Sans Flex Medium"/>
                <a:sym typeface="Google Sans Flex Medium"/>
              </a:rPr>
              <a:t>Process flow diagram</a:t>
            </a:r>
            <a:endParaRPr sz="1600">
              <a:latin typeface="Google Sans Flex Medium"/>
              <a:ea typeface="Google Sans Flex Medium"/>
              <a:cs typeface="Google Sans Flex Medium"/>
              <a:sym typeface="Google Sans Flex Medium"/>
            </a:endParaRPr>
          </a:p>
        </p:txBody>
      </p:sp>
      <p:sp>
        <p:nvSpPr>
          <p:cNvPr id="96" name="Rounded Rectangle 95"/>
          <p:cNvSpPr/>
          <p:nvPr/>
        </p:nvSpPr>
        <p:spPr>
          <a:xfrm>
            <a:off x="274320" y="1234440"/>
            <a:ext cx="1572768"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384048" y="1325880"/>
            <a:ext cx="1353312" cy="292608"/>
          </a:xfrm>
          <a:prstGeom prst="rect">
            <a:avLst/>
          </a:prstGeom>
          <a:noFill/>
        </p:spPr>
        <p:txBody>
          <a:bodyPr wrap="square" anchor="t" lIns="0" rIns="0" tIns="0" bIns="0">
            <a:spAutoFit/>
          </a:bodyPr>
          <a:lstStyle/>
          <a:p>
            <a:pPr algn="l"/>
            <a:r>
              <a:rPr sz="1300" b="1" i="0">
                <a:solidFill>
                  <a:srgbClr val="14201F"/>
                </a:solidFill>
                <a:latin typeface="Arial"/>
              </a:rPr>
              <a:t>Message</a:t>
            </a:r>
          </a:p>
        </p:txBody>
      </p:sp>
      <p:sp>
        <p:nvSpPr>
          <p:cNvPr id="98" name="TextBox 97"/>
          <p:cNvSpPr txBox="1"/>
          <p:nvPr/>
        </p:nvSpPr>
        <p:spPr>
          <a:xfrm>
            <a:off x="384048" y="1645920"/>
            <a:ext cx="1353312" cy="868680"/>
          </a:xfrm>
          <a:prstGeom prst="rect">
            <a:avLst/>
          </a:prstGeom>
          <a:noFill/>
        </p:spPr>
        <p:txBody>
          <a:bodyPr wrap="square" anchor="t" lIns="0" rIns="0" tIns="0" bIns="0">
            <a:spAutoFit/>
          </a:bodyPr>
          <a:lstStyle/>
          <a:p>
            <a:pPr algn="l"/>
            <a:r>
              <a:rPr sz="1000" b="0" i="0">
                <a:solidFill>
                  <a:srgbClr val="55625F"/>
                </a:solidFill>
                <a:latin typeface="Arial"/>
              </a:rPr>
              <a:t>WhatsApp / SMS offer pasted in</a:t>
            </a:r>
          </a:p>
        </p:txBody>
      </p:sp>
      <p:sp>
        <p:nvSpPr>
          <p:cNvPr id="99" name="Chevron 98"/>
          <p:cNvSpPr/>
          <p:nvPr/>
        </p:nvSpPr>
        <p:spPr>
          <a:xfrm>
            <a:off x="1865376" y="1810512"/>
            <a:ext cx="146304"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2029967" y="1234440"/>
            <a:ext cx="1572768" cy="132588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2139696" y="1325880"/>
            <a:ext cx="1353312" cy="292608"/>
          </a:xfrm>
          <a:prstGeom prst="rect">
            <a:avLst/>
          </a:prstGeom>
          <a:noFill/>
        </p:spPr>
        <p:txBody>
          <a:bodyPr wrap="square" anchor="t" lIns="0" rIns="0" tIns="0" bIns="0">
            <a:spAutoFit/>
          </a:bodyPr>
          <a:lstStyle/>
          <a:p>
            <a:pPr algn="l"/>
            <a:r>
              <a:rPr sz="1300" b="1" i="0">
                <a:solidFill>
                  <a:srgbClr val="0B6E4F"/>
                </a:solidFill>
                <a:latin typeface="Arial"/>
              </a:rPr>
              <a:t>Gemini</a:t>
            </a:r>
          </a:p>
        </p:txBody>
      </p:sp>
      <p:sp>
        <p:nvSpPr>
          <p:cNvPr id="102" name="TextBox 101"/>
          <p:cNvSpPr txBox="1"/>
          <p:nvPr/>
        </p:nvSpPr>
        <p:spPr>
          <a:xfrm>
            <a:off x="2139696" y="1645920"/>
            <a:ext cx="1353312" cy="868680"/>
          </a:xfrm>
          <a:prstGeom prst="rect">
            <a:avLst/>
          </a:prstGeom>
          <a:noFill/>
        </p:spPr>
        <p:txBody>
          <a:bodyPr wrap="square" anchor="t" lIns="0" rIns="0" tIns="0" bIns="0">
            <a:spAutoFit/>
          </a:bodyPr>
          <a:lstStyle/>
          <a:p>
            <a:pPr algn="l"/>
            <a:r>
              <a:rPr sz="1000" b="0" i="0">
                <a:solidFill>
                  <a:srgbClr val="55625F"/>
                </a:solidFill>
                <a:latin typeface="Arial"/>
              </a:rPr>
              <a:t>Reads red flags: guaranteed return, licence, payment route</a:t>
            </a:r>
          </a:p>
        </p:txBody>
      </p:sp>
      <p:sp>
        <p:nvSpPr>
          <p:cNvPr id="103" name="Chevron 102"/>
          <p:cNvSpPr/>
          <p:nvPr/>
        </p:nvSpPr>
        <p:spPr>
          <a:xfrm>
            <a:off x="3621023" y="1810512"/>
            <a:ext cx="146304"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3785615" y="1234440"/>
            <a:ext cx="1572768"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95344" y="1325880"/>
            <a:ext cx="1353312" cy="292608"/>
          </a:xfrm>
          <a:prstGeom prst="rect">
            <a:avLst/>
          </a:prstGeom>
          <a:noFill/>
        </p:spPr>
        <p:txBody>
          <a:bodyPr wrap="square" anchor="t" lIns="0" rIns="0" tIns="0" bIns="0">
            <a:spAutoFit/>
          </a:bodyPr>
          <a:lstStyle/>
          <a:p>
            <a:pPr algn="l"/>
            <a:r>
              <a:rPr sz="1300" b="1" i="0">
                <a:solidFill>
                  <a:srgbClr val="14201F"/>
                </a:solidFill>
                <a:latin typeface="Arial"/>
              </a:rPr>
              <a:t>SHIELD-P001</a:t>
            </a:r>
          </a:p>
        </p:txBody>
      </p:sp>
      <p:sp>
        <p:nvSpPr>
          <p:cNvPr id="106" name="TextBox 105"/>
          <p:cNvSpPr txBox="1"/>
          <p:nvPr/>
        </p:nvSpPr>
        <p:spPr>
          <a:xfrm>
            <a:off x="3895344" y="1645920"/>
            <a:ext cx="1353312" cy="868680"/>
          </a:xfrm>
          <a:prstGeom prst="rect">
            <a:avLst/>
          </a:prstGeom>
          <a:noFill/>
        </p:spPr>
        <p:txBody>
          <a:bodyPr wrap="square" anchor="t" lIns="0" rIns="0" tIns="0" bIns="0">
            <a:spAutoFit/>
          </a:bodyPr>
          <a:lstStyle/>
          <a:p>
            <a:pPr algn="l"/>
            <a:r>
              <a:rPr sz="1000" b="0" i="0">
                <a:solidFill>
                  <a:srgbClr val="55625F"/>
                </a:solidFill>
                <a:latin typeface="Arial"/>
              </a:rPr>
              <a:t>Versioned rules decide the verdict</a:t>
            </a:r>
          </a:p>
        </p:txBody>
      </p:sp>
      <p:sp>
        <p:nvSpPr>
          <p:cNvPr id="107" name="Chevron 106"/>
          <p:cNvSpPr/>
          <p:nvPr/>
        </p:nvSpPr>
        <p:spPr>
          <a:xfrm>
            <a:off x="5376671" y="1810512"/>
            <a:ext cx="146304"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5541264" y="1234440"/>
            <a:ext cx="1572768" cy="1325880"/>
          </a:xfrm>
          <a:prstGeom prst="roundRect">
            <a:avLst>
              <a:gd name="adj" fmla="val 12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5650992" y="1325880"/>
            <a:ext cx="1353312" cy="292608"/>
          </a:xfrm>
          <a:prstGeom prst="rect">
            <a:avLst/>
          </a:prstGeom>
          <a:noFill/>
        </p:spPr>
        <p:txBody>
          <a:bodyPr wrap="square" anchor="t" lIns="0" rIns="0" tIns="0" bIns="0">
            <a:spAutoFit/>
          </a:bodyPr>
          <a:lstStyle/>
          <a:p>
            <a:pPr algn="l"/>
            <a:r>
              <a:rPr sz="1300" b="1" i="0">
                <a:solidFill>
                  <a:srgbClr val="B42318"/>
                </a:solidFill>
                <a:latin typeface="Arial"/>
              </a:rPr>
              <a:t>STOP</a:t>
            </a:r>
          </a:p>
        </p:txBody>
      </p:sp>
      <p:sp>
        <p:nvSpPr>
          <p:cNvPr id="110" name="TextBox 109"/>
          <p:cNvSpPr txBox="1"/>
          <p:nvPr/>
        </p:nvSpPr>
        <p:spPr>
          <a:xfrm>
            <a:off x="5650992" y="1645920"/>
            <a:ext cx="1353312" cy="868680"/>
          </a:xfrm>
          <a:prstGeom prst="rect">
            <a:avLst/>
          </a:prstGeom>
          <a:noFill/>
        </p:spPr>
        <p:txBody>
          <a:bodyPr wrap="square" anchor="t" lIns="0" rIns="0" tIns="0" bIns="0">
            <a:spAutoFit/>
          </a:bodyPr>
          <a:lstStyle/>
          <a:p>
            <a:pPr algn="l"/>
            <a:r>
              <a:rPr sz="1000" b="0" i="0">
                <a:solidFill>
                  <a:srgbClr val="55625F"/>
                </a:solidFill>
                <a:latin typeface="Arial"/>
              </a:rPr>
              <a:t>What to do next, why, and the OKF scam patterns cited</a:t>
            </a:r>
          </a:p>
        </p:txBody>
      </p:sp>
      <p:sp>
        <p:nvSpPr>
          <p:cNvPr id="111" name="Chevron 110"/>
          <p:cNvSpPr/>
          <p:nvPr/>
        </p:nvSpPr>
        <p:spPr>
          <a:xfrm>
            <a:off x="7132319" y="1810512"/>
            <a:ext cx="146304"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7296912" y="1234440"/>
            <a:ext cx="1572768"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7406640" y="1325880"/>
            <a:ext cx="1353312" cy="292608"/>
          </a:xfrm>
          <a:prstGeom prst="rect">
            <a:avLst/>
          </a:prstGeom>
          <a:noFill/>
        </p:spPr>
        <p:txBody>
          <a:bodyPr wrap="square" anchor="t" lIns="0" rIns="0" tIns="0" bIns="0">
            <a:spAutoFit/>
          </a:bodyPr>
          <a:lstStyle/>
          <a:p>
            <a:pPr algn="l"/>
            <a:r>
              <a:rPr sz="1300" b="1" i="0">
                <a:solidFill>
                  <a:srgbClr val="14201F"/>
                </a:solidFill>
                <a:latin typeface="Arial"/>
              </a:rPr>
              <a:t>Sealed</a:t>
            </a:r>
          </a:p>
        </p:txBody>
      </p:sp>
      <p:sp>
        <p:nvSpPr>
          <p:cNvPr id="114" name="TextBox 113"/>
          <p:cNvSpPr txBox="1"/>
          <p:nvPr/>
        </p:nvSpPr>
        <p:spPr>
          <a:xfrm>
            <a:off x="7406640" y="1645920"/>
            <a:ext cx="1353312" cy="868680"/>
          </a:xfrm>
          <a:prstGeom prst="rect">
            <a:avLst/>
          </a:prstGeom>
          <a:noFill/>
        </p:spPr>
        <p:txBody>
          <a:bodyPr wrap="square" anchor="t" lIns="0" rIns="0" tIns="0" bIns="0">
            <a:spAutoFit/>
          </a:bodyPr>
          <a:lstStyle/>
          <a:p>
            <a:pPr algn="l"/>
            <a:r>
              <a:rPr sz="1000" b="0" i="0">
                <a:solidFill>
                  <a:srgbClr val="55625F"/>
                </a:solidFill>
                <a:latin typeface="Arial"/>
              </a:rPr>
              <a:t>Hash + model + policy anchored in AuditRegistry</a:t>
            </a:r>
          </a:p>
        </p:txBody>
      </p:sp>
      <p:sp>
        <p:nvSpPr>
          <p:cNvPr id="115" name="TextBox 114"/>
          <p:cNvSpPr txBox="1"/>
          <p:nvPr/>
        </p:nvSpPr>
        <p:spPr>
          <a:xfrm>
            <a:off x="274320" y="2697480"/>
            <a:ext cx="8595360" cy="274320"/>
          </a:xfrm>
          <a:prstGeom prst="rect">
            <a:avLst/>
          </a:prstGeom>
          <a:noFill/>
        </p:spPr>
        <p:txBody>
          <a:bodyPr wrap="square" anchor="t" lIns="0" rIns="0" tIns="0" bIns="0">
            <a:spAutoFit/>
          </a:bodyPr>
          <a:lstStyle/>
          <a:p>
            <a:pPr algn="l"/>
            <a:r>
              <a:rPr sz="1200" b="1" i="0">
                <a:solidFill>
                  <a:srgbClr val="14201F"/>
                </a:solidFill>
                <a:latin typeface="Arial"/>
              </a:rPr>
              <a:t>Then the money decision, with the same guarantees</a:t>
            </a:r>
          </a:p>
        </p:txBody>
      </p:sp>
      <p:sp>
        <p:nvSpPr>
          <p:cNvPr id="116" name="Rounded Rectangle 115"/>
          <p:cNvSpPr/>
          <p:nvPr/>
        </p:nvSpPr>
        <p:spPr>
          <a:xfrm>
            <a:off x="274320" y="3063240"/>
            <a:ext cx="1572768" cy="132588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84048" y="3154680"/>
            <a:ext cx="1353312" cy="292608"/>
          </a:xfrm>
          <a:prstGeom prst="rect">
            <a:avLst/>
          </a:prstGeom>
          <a:noFill/>
        </p:spPr>
        <p:txBody>
          <a:bodyPr wrap="square" anchor="t" lIns="0" rIns="0" tIns="0" bIns="0">
            <a:spAutoFit/>
          </a:bodyPr>
          <a:lstStyle/>
          <a:p>
            <a:pPr algn="l"/>
            <a:r>
              <a:rPr sz="1300" b="1" i="0">
                <a:solidFill>
                  <a:srgbClr val="0B6E4F"/>
                </a:solidFill>
                <a:latin typeface="Arial"/>
              </a:rPr>
              <a:t>Ask why</a:t>
            </a:r>
          </a:p>
        </p:txBody>
      </p:sp>
      <p:sp>
        <p:nvSpPr>
          <p:cNvPr id="118" name="TextBox 117"/>
          <p:cNvSpPr txBox="1"/>
          <p:nvPr/>
        </p:nvSpPr>
        <p:spPr>
          <a:xfrm>
            <a:off x="384048" y="3474720"/>
            <a:ext cx="1353312" cy="868680"/>
          </a:xfrm>
          <a:prstGeom prst="rect">
            <a:avLst/>
          </a:prstGeom>
          <a:noFill/>
        </p:spPr>
        <p:txBody>
          <a:bodyPr wrap="square" anchor="t" lIns="0" rIns="0" tIns="0" bIns="0">
            <a:spAutoFit/>
          </a:bodyPr>
          <a:lstStyle/>
          <a:p>
            <a:pPr algn="l"/>
            <a:r>
              <a:rPr sz="1000" b="0" i="0">
                <a:solidFill>
                  <a:srgbClr val="55625F"/>
                </a:solidFill>
                <a:latin typeface="Arial"/>
              </a:rPr>
              <a:t>Assistant answers in Sinhala; grounding rejects invented figures</a:t>
            </a:r>
          </a:p>
        </p:txBody>
      </p:sp>
      <p:sp>
        <p:nvSpPr>
          <p:cNvPr id="119" name="Chevron 118"/>
          <p:cNvSpPr/>
          <p:nvPr/>
        </p:nvSpPr>
        <p:spPr>
          <a:xfrm>
            <a:off x="1865376" y="3639312"/>
            <a:ext cx="146304"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2029967" y="3063240"/>
            <a:ext cx="1572768"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2139696" y="3154680"/>
            <a:ext cx="1353312" cy="292608"/>
          </a:xfrm>
          <a:prstGeom prst="rect">
            <a:avLst/>
          </a:prstGeom>
          <a:noFill/>
        </p:spPr>
        <p:txBody>
          <a:bodyPr wrap="square" anchor="t" lIns="0" rIns="0" tIns="0" bIns="0">
            <a:spAutoFit/>
          </a:bodyPr>
          <a:lstStyle/>
          <a:p>
            <a:pPr algn="l"/>
            <a:r>
              <a:rPr sz="1300" b="1" i="0">
                <a:solidFill>
                  <a:srgbClr val="14201F"/>
                </a:solidFill>
                <a:latin typeface="Arial"/>
              </a:rPr>
              <a:t>Cash plan</a:t>
            </a:r>
          </a:p>
        </p:txBody>
      </p:sp>
      <p:sp>
        <p:nvSpPr>
          <p:cNvPr id="122" name="TextBox 121"/>
          <p:cNvSpPr txBox="1"/>
          <p:nvPr/>
        </p:nvSpPr>
        <p:spPr>
          <a:xfrm>
            <a:off x="2139696" y="3474720"/>
            <a:ext cx="1353312" cy="868680"/>
          </a:xfrm>
          <a:prstGeom prst="rect">
            <a:avLst/>
          </a:prstGeom>
          <a:noFill/>
        </p:spPr>
        <p:txBody>
          <a:bodyPr wrap="square" anchor="t" lIns="0" rIns="0" tIns="0" bIns="0">
            <a:spAutoFit/>
          </a:bodyPr>
          <a:lstStyle/>
          <a:p>
            <a:pPr algn="l"/>
            <a:r>
              <a:rPr sz="1000" b="0" i="0">
                <a:solidFill>
                  <a:srgbClr val="55625F"/>
                </a:solidFill>
                <a:latin typeface="Arial"/>
              </a:rPr>
              <a:t>Rs 300,000 by a deadline: day-by-day sales, cost vs. 3 baselines</a:t>
            </a:r>
          </a:p>
        </p:txBody>
      </p:sp>
      <p:sp>
        <p:nvSpPr>
          <p:cNvPr id="123" name="Chevron 122"/>
          <p:cNvSpPr/>
          <p:nvPr/>
        </p:nvSpPr>
        <p:spPr>
          <a:xfrm>
            <a:off x="3621023" y="3639312"/>
            <a:ext cx="146304"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3785615" y="3063240"/>
            <a:ext cx="1572768" cy="1325880"/>
          </a:xfrm>
          <a:prstGeom prst="roundRect">
            <a:avLst>
              <a:gd name="adj" fmla="val 12000"/>
            </a:avLst>
          </a:prstGeom>
          <a:solidFill>
            <a:srgbClr val="FD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3895344" y="3154680"/>
            <a:ext cx="1353312" cy="292608"/>
          </a:xfrm>
          <a:prstGeom prst="rect">
            <a:avLst/>
          </a:prstGeom>
          <a:noFill/>
        </p:spPr>
        <p:txBody>
          <a:bodyPr wrap="square" anchor="t" lIns="0" rIns="0" tIns="0" bIns="0">
            <a:spAutoFit/>
          </a:bodyPr>
          <a:lstStyle/>
          <a:p>
            <a:pPr algn="l"/>
            <a:r>
              <a:rPr sz="1300" b="1" i="0">
                <a:solidFill>
                  <a:srgbClr val="8A5300"/>
                </a:solidFill>
                <a:latin typeface="Arial"/>
              </a:rPr>
              <a:t>Transfer</a:t>
            </a:r>
          </a:p>
        </p:txBody>
      </p:sp>
      <p:sp>
        <p:nvSpPr>
          <p:cNvPr id="126" name="TextBox 125"/>
          <p:cNvSpPr txBox="1"/>
          <p:nvPr/>
        </p:nvSpPr>
        <p:spPr>
          <a:xfrm>
            <a:off x="3895344" y="3474720"/>
            <a:ext cx="1353312" cy="868680"/>
          </a:xfrm>
          <a:prstGeom prst="rect">
            <a:avLst/>
          </a:prstGeom>
          <a:noFill/>
        </p:spPr>
        <p:txBody>
          <a:bodyPr wrap="square" anchor="t" lIns="0" rIns="0" tIns="0" bIns="0">
            <a:spAutoFit/>
          </a:bodyPr>
          <a:lstStyle/>
          <a:p>
            <a:pPr algn="l"/>
            <a:r>
              <a:rPr sz="1000" b="0" i="0">
                <a:solidFill>
                  <a:srgbClr val="55625F"/>
                </a:solidFill>
                <a:latin typeface="Arial"/>
              </a:rPr>
              <a:t>New payee, 30,000: the gateway asks for a STEP‑UP</a:t>
            </a:r>
          </a:p>
        </p:txBody>
      </p:sp>
      <p:sp>
        <p:nvSpPr>
          <p:cNvPr id="127" name="Chevron 126"/>
          <p:cNvSpPr/>
          <p:nvPr/>
        </p:nvSpPr>
        <p:spPr>
          <a:xfrm>
            <a:off x="5376671" y="3639312"/>
            <a:ext cx="146304"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5541264" y="3063240"/>
            <a:ext cx="1572768"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5650992" y="3154680"/>
            <a:ext cx="1353312" cy="292608"/>
          </a:xfrm>
          <a:prstGeom prst="rect">
            <a:avLst/>
          </a:prstGeom>
          <a:noFill/>
        </p:spPr>
        <p:txBody>
          <a:bodyPr wrap="square" anchor="t" lIns="0" rIns="0" tIns="0" bIns="0">
            <a:spAutoFit/>
          </a:bodyPr>
          <a:lstStyle/>
          <a:p>
            <a:pPr algn="l"/>
            <a:r>
              <a:rPr sz="1300" b="1" i="0">
                <a:solidFill>
                  <a:srgbClr val="14201F"/>
                </a:solidFill>
                <a:latin typeface="Arial"/>
              </a:rPr>
              <a:t>Fresh proof</a:t>
            </a:r>
          </a:p>
        </p:txBody>
      </p:sp>
      <p:sp>
        <p:nvSpPr>
          <p:cNvPr id="130" name="TextBox 129"/>
          <p:cNvSpPr txBox="1"/>
          <p:nvPr/>
        </p:nvSpPr>
        <p:spPr>
          <a:xfrm>
            <a:off x="5650992" y="3474720"/>
            <a:ext cx="1353312" cy="868680"/>
          </a:xfrm>
          <a:prstGeom prst="rect">
            <a:avLst/>
          </a:prstGeom>
          <a:noFill/>
        </p:spPr>
        <p:txBody>
          <a:bodyPr wrap="square" anchor="t" lIns="0" rIns="0" tIns="0" bIns="0">
            <a:spAutoFit/>
          </a:bodyPr>
          <a:lstStyle/>
          <a:p>
            <a:pPr algn="l"/>
            <a:r>
              <a:rPr sz="1000" b="0" i="0">
                <a:solidFill>
                  <a:srgbClr val="55625F"/>
                </a:solidFill>
                <a:latin typeface="Arial"/>
              </a:rPr>
              <a:t>One-time code verified before the transfer continues</a:t>
            </a:r>
          </a:p>
        </p:txBody>
      </p:sp>
      <p:sp>
        <p:nvSpPr>
          <p:cNvPr id="131" name="Chevron 130"/>
          <p:cNvSpPr/>
          <p:nvPr/>
        </p:nvSpPr>
        <p:spPr>
          <a:xfrm>
            <a:off x="7132319" y="3639312"/>
            <a:ext cx="146304"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7296912" y="3063240"/>
            <a:ext cx="1572768" cy="13258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406640" y="3154680"/>
            <a:ext cx="1353312" cy="292608"/>
          </a:xfrm>
          <a:prstGeom prst="rect">
            <a:avLst/>
          </a:prstGeom>
          <a:noFill/>
        </p:spPr>
        <p:txBody>
          <a:bodyPr wrap="square" anchor="t" lIns="0" rIns="0" tIns="0" bIns="0">
            <a:spAutoFit/>
          </a:bodyPr>
          <a:lstStyle/>
          <a:p>
            <a:pPr algn="l"/>
            <a:r>
              <a:rPr sz="1300" b="1" i="0">
                <a:solidFill>
                  <a:srgbClr val="14201F"/>
                </a:solidFill>
                <a:latin typeface="Arial"/>
              </a:rPr>
              <a:t>Sealed</a:t>
            </a:r>
          </a:p>
        </p:txBody>
      </p:sp>
      <p:sp>
        <p:nvSpPr>
          <p:cNvPr id="134" name="TextBox 133"/>
          <p:cNvSpPr txBox="1"/>
          <p:nvPr/>
        </p:nvSpPr>
        <p:spPr>
          <a:xfrm>
            <a:off x="7406640" y="3474720"/>
            <a:ext cx="1353312" cy="868680"/>
          </a:xfrm>
          <a:prstGeom prst="rect">
            <a:avLst/>
          </a:prstGeom>
          <a:noFill/>
        </p:spPr>
        <p:txBody>
          <a:bodyPr wrap="square" anchor="t" lIns="0" rIns="0" tIns="0" bIns="0">
            <a:spAutoFit/>
          </a:bodyPr>
          <a:lstStyle/>
          <a:p>
            <a:pPr algn="l"/>
            <a:r>
              <a:rPr sz="1000" b="0" i="0">
                <a:solidFill>
                  <a:srgbClr val="55625F"/>
                </a:solidFill>
                <a:latin typeface="Arial"/>
              </a:rPr>
              <a:t>Plan, verdict and transfer each anchored and verifiable</a:t>
            </a:r>
          </a:p>
        </p:txBody>
      </p:sp>
      <p:sp>
        <p:nvSpPr>
          <p:cNvPr id="135" name="TextBox 134"/>
          <p:cNvSpPr txBox="1"/>
          <p:nvPr/>
        </p:nvSpPr>
        <p:spPr>
          <a:xfrm>
            <a:off x="274320" y="4526280"/>
            <a:ext cx="8595360" cy="365760"/>
          </a:xfrm>
          <a:prstGeom prst="rect">
            <a:avLst/>
          </a:prstGeom>
          <a:noFill/>
        </p:spPr>
        <p:txBody>
          <a:bodyPr wrap="square" anchor="t" lIns="0" rIns="0" tIns="0" bIns="0">
            <a:spAutoFit/>
          </a:bodyPr>
          <a:lstStyle/>
          <a:p>
            <a:pPr algn="l"/>
            <a:r>
              <a:rPr sz="1050" b="0" i="0">
                <a:solidFill>
                  <a:srgbClr val="55625F"/>
                </a:solidFill>
                <a:latin typeface="Arial"/>
              </a:rPr>
              <a:t>Models score, rules decide: no model output reaches the user without passing a deterministic policy or the grounding check.</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Medium"/>
                <a:ea typeface="Google Sans Flex Medium"/>
                <a:cs typeface="Google Sans Flex Medium"/>
                <a:sym typeface="Google Sans Flex Medium"/>
              </a:rPr>
              <a:t>Design: the verdict is the product</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274320" y="1143000"/>
            <a:ext cx="3931920" cy="1280160"/>
          </a:xfrm>
          <a:prstGeom prst="rect">
            <a:avLst/>
          </a:prstGeom>
          <a:noFill/>
        </p:spPr>
        <p:txBody>
          <a:bodyPr wrap="square" anchor="t" lIns="0" rIns="0" tIns="0" bIns="0">
            <a:spAutoFit/>
          </a:bodyPr>
          <a:lstStyle/>
          <a:p>
            <a:pPr algn="l">
              <a:spcAft>
                <a:spcPts val="600"/>
              </a:spcAft>
            </a:pPr>
            <a:r>
              <a:rPr sz="1400" b="1" i="0">
                <a:solidFill>
                  <a:srgbClr val="14201F"/>
                </a:solidFill>
                <a:latin typeface="Arial"/>
              </a:rPr>
              <a:t>One decision, one stamp.</a:t>
            </a:r>
          </a:p>
          <a:p>
            <a:pPr algn="l">
              <a:spcAft>
                <a:spcPts val="600"/>
              </a:spcAft>
            </a:pPr>
            <a:r>
              <a:rPr sz="1100" b="0" i="0">
                <a:solidFill>
                  <a:srgbClr val="55625F"/>
                </a:solidFill>
                <a:latin typeface="Arial"/>
              </a:rPr>
              <a:t>The visual world is a bank passbook: paper, ink, savings-book green for safe, stamp red for stop. The verdict is a stamp with a word and a shape, never colour alone, then what to do, then why.</a:t>
            </a:r>
          </a:p>
        </p:txBody>
      </p:sp>
      <p:sp>
        <p:nvSpPr>
          <p:cNvPr id="105" name="Rounded Rectangle 104"/>
          <p:cNvSpPr/>
          <p:nvPr/>
        </p:nvSpPr>
        <p:spPr>
          <a:xfrm>
            <a:off x="274320" y="2606040"/>
            <a:ext cx="1874519" cy="1005840"/>
          </a:xfrm>
          <a:prstGeom prst="roundRect">
            <a:avLst>
              <a:gd name="adj" fmla="val 12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384048" y="2743200"/>
            <a:ext cx="731520" cy="731520"/>
          </a:xfrm>
          <a:prstGeom prst="ellipse">
            <a:avLst/>
          </a:prstGeom>
          <a:noFill/>
          <a:ln w="28575">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384048" y="2743200"/>
            <a:ext cx="731520" cy="731520"/>
          </a:xfrm>
          <a:prstGeom prst="rect">
            <a:avLst/>
          </a:prstGeom>
          <a:noFill/>
        </p:spPr>
        <p:txBody>
          <a:bodyPr wrap="square" anchor="ctr" lIns="0" rIns="0" tIns="0" bIns="0">
            <a:spAutoFit/>
          </a:bodyPr>
          <a:lstStyle/>
          <a:p>
            <a:pPr algn="ctr"/>
            <a:r>
              <a:rPr sz="1000" b="1" i="0">
                <a:solidFill>
                  <a:srgbClr val="B42318"/>
                </a:solidFill>
                <a:latin typeface="Arial"/>
              </a:rPr>
              <a:t>STOP</a:t>
            </a:r>
          </a:p>
        </p:txBody>
      </p:sp>
      <p:sp>
        <p:nvSpPr>
          <p:cNvPr id="108" name="TextBox 107"/>
          <p:cNvSpPr txBox="1"/>
          <p:nvPr/>
        </p:nvSpPr>
        <p:spPr>
          <a:xfrm>
            <a:off x="1188720" y="2788920"/>
            <a:ext cx="896112" cy="685800"/>
          </a:xfrm>
          <a:prstGeom prst="rect">
            <a:avLst/>
          </a:prstGeom>
          <a:noFill/>
        </p:spPr>
        <p:txBody>
          <a:bodyPr wrap="square" anchor="ctr" lIns="0" rIns="0" tIns="0" bIns="0">
            <a:spAutoFit/>
          </a:bodyPr>
          <a:lstStyle/>
          <a:p>
            <a:pPr algn="l"/>
            <a:r>
              <a:rPr sz="1000" b="0" i="0">
                <a:solidFill>
                  <a:srgbClr val="14201F"/>
                </a:solidFill>
                <a:latin typeface="Arial"/>
              </a:rPr>
              <a:t>This looks like a scam</a:t>
            </a:r>
          </a:p>
        </p:txBody>
      </p:sp>
      <p:sp>
        <p:nvSpPr>
          <p:cNvPr id="109" name="Rounded Rectangle 108"/>
          <p:cNvSpPr/>
          <p:nvPr/>
        </p:nvSpPr>
        <p:spPr>
          <a:xfrm>
            <a:off x="2286000" y="2606040"/>
            <a:ext cx="1874519" cy="1005840"/>
          </a:xfrm>
          <a:prstGeom prst="roundRect">
            <a:avLst>
              <a:gd name="adj" fmla="val 12000"/>
            </a:avLst>
          </a:prstGeom>
          <a:solidFill>
            <a:srgbClr val="FD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2395728" y="2743200"/>
            <a:ext cx="731520" cy="731520"/>
          </a:xfrm>
          <a:prstGeom prst="ellipse">
            <a:avLst/>
          </a:prstGeom>
          <a:noFill/>
          <a:ln w="28575">
            <a:solidFill>
              <a:srgbClr val="8A5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395728" y="2743200"/>
            <a:ext cx="731520" cy="731520"/>
          </a:xfrm>
          <a:prstGeom prst="rect">
            <a:avLst/>
          </a:prstGeom>
          <a:noFill/>
        </p:spPr>
        <p:txBody>
          <a:bodyPr wrap="square" anchor="ctr" lIns="0" rIns="0" tIns="0" bIns="0">
            <a:spAutoFit/>
          </a:bodyPr>
          <a:lstStyle/>
          <a:p>
            <a:pPr algn="ctr"/>
            <a:r>
              <a:rPr sz="1000" b="1" i="0">
                <a:solidFill>
                  <a:srgbClr val="8A5300"/>
                </a:solidFill>
                <a:latin typeface="Arial"/>
              </a:rPr>
              <a:t>CHECK</a:t>
            </a:r>
          </a:p>
        </p:txBody>
      </p:sp>
      <p:sp>
        <p:nvSpPr>
          <p:cNvPr id="112" name="TextBox 111"/>
          <p:cNvSpPr txBox="1"/>
          <p:nvPr/>
        </p:nvSpPr>
        <p:spPr>
          <a:xfrm>
            <a:off x="3200400" y="2788920"/>
            <a:ext cx="896112" cy="685800"/>
          </a:xfrm>
          <a:prstGeom prst="rect">
            <a:avLst/>
          </a:prstGeom>
          <a:noFill/>
        </p:spPr>
        <p:txBody>
          <a:bodyPr wrap="square" anchor="ctr" lIns="0" rIns="0" tIns="0" bIns="0">
            <a:spAutoFit/>
          </a:bodyPr>
          <a:lstStyle/>
          <a:p>
            <a:pPr algn="l"/>
            <a:r>
              <a:rPr sz="1000" b="0" i="0">
                <a:solidFill>
                  <a:srgbClr val="14201F"/>
                </a:solidFill>
                <a:latin typeface="Arial"/>
              </a:rPr>
              <a:t>Some warning signs</a:t>
            </a:r>
          </a:p>
        </p:txBody>
      </p:sp>
      <p:sp>
        <p:nvSpPr>
          <p:cNvPr id="113" name="Rounded Rectangle 112"/>
          <p:cNvSpPr/>
          <p:nvPr/>
        </p:nvSpPr>
        <p:spPr>
          <a:xfrm>
            <a:off x="274320" y="3749039"/>
            <a:ext cx="1874519" cy="100584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384048" y="3886200"/>
            <a:ext cx="731520" cy="731520"/>
          </a:xfrm>
          <a:prstGeom prst="ellipse">
            <a:avLst/>
          </a:prstGeom>
          <a:noFill/>
          <a:ln w="28575">
            <a:solidFill>
              <a:srgbClr val="0B6E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384048" y="3886200"/>
            <a:ext cx="731520" cy="731520"/>
          </a:xfrm>
          <a:prstGeom prst="rect">
            <a:avLst/>
          </a:prstGeom>
          <a:noFill/>
        </p:spPr>
        <p:txBody>
          <a:bodyPr wrap="square" anchor="ctr" lIns="0" rIns="0" tIns="0" bIns="0">
            <a:spAutoFit/>
          </a:bodyPr>
          <a:lstStyle/>
          <a:p>
            <a:pPr algn="ctr"/>
            <a:r>
              <a:rPr sz="1000" b="1" i="0">
                <a:solidFill>
                  <a:srgbClr val="0B6E4F"/>
                </a:solidFill>
                <a:latin typeface="Arial"/>
              </a:rPr>
              <a:t>CLEAR</a:t>
            </a:r>
          </a:p>
        </p:txBody>
      </p:sp>
      <p:sp>
        <p:nvSpPr>
          <p:cNvPr id="116" name="TextBox 115"/>
          <p:cNvSpPr txBox="1"/>
          <p:nvPr/>
        </p:nvSpPr>
        <p:spPr>
          <a:xfrm>
            <a:off x="1188720" y="3931920"/>
            <a:ext cx="896112" cy="685800"/>
          </a:xfrm>
          <a:prstGeom prst="rect">
            <a:avLst/>
          </a:prstGeom>
          <a:noFill/>
        </p:spPr>
        <p:txBody>
          <a:bodyPr wrap="square" anchor="ctr" lIns="0" rIns="0" tIns="0" bIns="0">
            <a:spAutoFit/>
          </a:bodyPr>
          <a:lstStyle/>
          <a:p>
            <a:pPr algn="l"/>
            <a:r>
              <a:rPr sz="1000" b="0" i="0">
                <a:solidFill>
                  <a:srgbClr val="14201F"/>
                </a:solidFill>
                <a:latin typeface="Arial"/>
              </a:rPr>
              <a:t>No warning signs found</a:t>
            </a:r>
          </a:p>
        </p:txBody>
      </p:sp>
      <p:sp>
        <p:nvSpPr>
          <p:cNvPr id="117" name="Rounded Rectangle 116"/>
          <p:cNvSpPr/>
          <p:nvPr/>
        </p:nvSpPr>
        <p:spPr>
          <a:xfrm>
            <a:off x="2286000" y="3749039"/>
            <a:ext cx="1874519" cy="100584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2395728" y="3886200"/>
            <a:ext cx="731520" cy="731520"/>
          </a:xfrm>
          <a:prstGeom prst="ellipse">
            <a:avLst/>
          </a:prstGeom>
          <a:noFill/>
          <a:ln w="28575">
            <a:solidFill>
              <a:srgbClr val="5562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395728" y="3886200"/>
            <a:ext cx="731520" cy="731520"/>
          </a:xfrm>
          <a:prstGeom prst="rect">
            <a:avLst/>
          </a:prstGeom>
          <a:noFill/>
        </p:spPr>
        <p:txBody>
          <a:bodyPr wrap="square" anchor="ctr" lIns="0" rIns="0" tIns="0" bIns="0">
            <a:spAutoFit/>
          </a:bodyPr>
          <a:lstStyle/>
          <a:p>
            <a:pPr algn="ctr"/>
            <a:r>
              <a:rPr sz="900" b="1" i="0">
                <a:solidFill>
                  <a:srgbClr val="55625F"/>
                </a:solidFill>
                <a:latin typeface="Arial"/>
              </a:rPr>
              <a:t>UNSURE</a:t>
            </a:r>
          </a:p>
        </p:txBody>
      </p:sp>
      <p:sp>
        <p:nvSpPr>
          <p:cNvPr id="120" name="TextBox 119"/>
          <p:cNvSpPr txBox="1"/>
          <p:nvPr/>
        </p:nvSpPr>
        <p:spPr>
          <a:xfrm>
            <a:off x="3200400" y="3931920"/>
            <a:ext cx="896112" cy="685800"/>
          </a:xfrm>
          <a:prstGeom prst="rect">
            <a:avLst/>
          </a:prstGeom>
          <a:noFill/>
        </p:spPr>
        <p:txBody>
          <a:bodyPr wrap="square" anchor="ctr" lIns="0" rIns="0" tIns="0" bIns="0">
            <a:spAutoFit/>
          </a:bodyPr>
          <a:lstStyle/>
          <a:p>
            <a:pPr algn="l"/>
            <a:r>
              <a:rPr sz="1000" b="0" i="0">
                <a:solidFill>
                  <a:srgbClr val="14201F"/>
                </a:solidFill>
                <a:latin typeface="Arial"/>
              </a:rPr>
              <a:t>Too little to call it safe</a:t>
            </a:r>
          </a:p>
        </p:txBody>
      </p:sp>
      <p:pic>
        <p:nvPicPr>
          <p:cNvPr id="121" name="Picture 120" descr="shot-verdict.png"/>
          <p:cNvPicPr>
            <a:picLocks noChangeAspect="1"/>
          </p:cNvPicPr>
          <p:nvPr/>
        </p:nvPicPr>
        <p:blipFill>
          <a:blip r:embed="rId5"/>
          <a:stretch>
            <a:fillRect/>
          </a:stretch>
        </p:blipFill>
        <p:spPr>
          <a:xfrm>
            <a:off x="4434840" y="1143000"/>
            <a:ext cx="4434840" cy="2771775"/>
          </a:xfrm>
          <a:prstGeom prst="rect">
            <a:avLst/>
          </a:prstGeom>
          <a:ln w="9525">
            <a:solidFill>
              <a:srgbClr val="DDE3E1"/>
            </a:solidFill>
          </a:ln>
        </p:spPr>
      </p:pic>
      <p:sp>
        <p:nvSpPr>
          <p:cNvPr id="122" name="TextBox 121"/>
          <p:cNvSpPr txBox="1"/>
          <p:nvPr/>
        </p:nvSpPr>
        <p:spPr>
          <a:xfrm>
            <a:off x="4434840" y="4005072"/>
            <a:ext cx="4434840" cy="822960"/>
          </a:xfrm>
          <a:prstGeom prst="rect">
            <a:avLst/>
          </a:prstGeom>
          <a:noFill/>
        </p:spPr>
        <p:txBody>
          <a:bodyPr wrap="square" anchor="t" lIns="0" rIns="0" tIns="0" bIns="0">
            <a:spAutoFit/>
          </a:bodyPr>
          <a:lstStyle/>
          <a:p>
            <a:pPr algn="l"/>
            <a:r>
              <a:rPr sz="1000" b="0" i="0">
                <a:solidFill>
                  <a:srgbClr val="55625F"/>
                </a:solidFill>
                <a:latin typeface="Arial"/>
              </a:rPr>
              <a:t>Live screen. Every text colour clears 4.5:1 contrast in light and dark; layouts are checked at phone width (390 px).</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274320" y="1188720"/>
            <a:ext cx="1417320" cy="68580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65760" y="1243584"/>
            <a:ext cx="1234440" cy="594360"/>
          </a:xfrm>
          <a:prstGeom prst="rect">
            <a:avLst/>
          </a:prstGeom>
          <a:noFill/>
        </p:spPr>
        <p:txBody>
          <a:bodyPr wrap="square" anchor="t" lIns="0" rIns="0" tIns="0" bIns="0">
            <a:spAutoFit/>
          </a:bodyPr>
          <a:lstStyle/>
          <a:p>
            <a:pPr algn="l"/>
            <a:r>
              <a:rPr sz="1100" b="1" i="0">
                <a:solidFill>
                  <a:srgbClr val="14201F"/>
                </a:solidFill>
                <a:latin typeface="Arial"/>
              </a:rPr>
              <a:t>Customers</a:t>
            </a:r>
          </a:p>
          <a:p>
            <a:pPr algn="l"/>
            <a:r>
              <a:rPr sz="900" b="0" i="0">
                <a:solidFill>
                  <a:srgbClr val="55625F"/>
                </a:solidFill>
                <a:latin typeface="Arial"/>
              </a:rPr>
              <a:t>Web app and mobile app</a:t>
            </a:r>
          </a:p>
        </p:txBody>
      </p:sp>
      <p:sp>
        <p:nvSpPr>
          <p:cNvPr id="114" name="Rounded Rectangle 113"/>
          <p:cNvSpPr/>
          <p:nvPr/>
        </p:nvSpPr>
        <p:spPr>
          <a:xfrm>
            <a:off x="274320" y="2011680"/>
            <a:ext cx="1417320" cy="68580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365760" y="2066543"/>
            <a:ext cx="1234440" cy="594360"/>
          </a:xfrm>
          <a:prstGeom prst="rect">
            <a:avLst/>
          </a:prstGeom>
          <a:noFill/>
        </p:spPr>
        <p:txBody>
          <a:bodyPr wrap="square" anchor="t" lIns="0" rIns="0" tIns="0" bIns="0">
            <a:spAutoFit/>
          </a:bodyPr>
          <a:lstStyle/>
          <a:p>
            <a:pPr algn="l"/>
            <a:r>
              <a:rPr sz="1100" b="1" i="0">
                <a:solidFill>
                  <a:srgbClr val="14201F"/>
                </a:solidFill>
                <a:latin typeface="Arial"/>
              </a:rPr>
              <a:t>Banks, regulators</a:t>
            </a:r>
          </a:p>
          <a:p>
            <a:pPr algn="l"/>
            <a:r>
              <a:rPr sz="900" b="0" i="0">
                <a:solidFill>
                  <a:srgbClr val="55625F"/>
                </a:solidFill>
                <a:latin typeface="Arial"/>
              </a:rPr>
              <a:t>OData v4 clients (Excel, BI)</a:t>
            </a:r>
          </a:p>
        </p:txBody>
      </p:sp>
      <p:sp>
        <p:nvSpPr>
          <p:cNvPr id="116" name="Chevron 115"/>
          <p:cNvSpPr/>
          <p:nvPr/>
        </p:nvSpPr>
        <p:spPr>
          <a:xfrm>
            <a:off x="1755648" y="1801368"/>
            <a:ext cx="146304" cy="201168"/>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2011680" y="1143000"/>
            <a:ext cx="4983480" cy="3611880"/>
          </a:xfrm>
          <a:prstGeom prst="roundRect">
            <a:avLst>
              <a:gd name="adj" fmla="val 4000"/>
            </a:avLst>
          </a:prstGeom>
          <a:noFill/>
          <a:ln w="12700">
            <a:solidFill>
              <a:srgbClr val="0B6E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2148840" y="1188720"/>
            <a:ext cx="4754880" cy="256032"/>
          </a:xfrm>
          <a:prstGeom prst="rect">
            <a:avLst/>
          </a:prstGeom>
          <a:noFill/>
        </p:spPr>
        <p:txBody>
          <a:bodyPr wrap="square" anchor="t" lIns="0" rIns="0" tIns="0" bIns="0">
            <a:spAutoFit/>
          </a:bodyPr>
          <a:lstStyle/>
          <a:p>
            <a:pPr algn="l"/>
            <a:r>
              <a:rPr sz="950" b="1" i="0">
                <a:solidFill>
                  <a:srgbClr val="0B6E4F"/>
                </a:solidFill>
                <a:latin typeface="Arial"/>
              </a:rPr>
              <a:t>Google Cloud Run  ·  each service verifies every request itself</a:t>
            </a:r>
          </a:p>
        </p:txBody>
      </p:sp>
      <p:sp>
        <p:nvSpPr>
          <p:cNvPr id="119" name="Rounded Rectangle 118"/>
          <p:cNvSpPr/>
          <p:nvPr/>
        </p:nvSpPr>
        <p:spPr>
          <a:xfrm>
            <a:off x="2148840" y="1536192"/>
            <a:ext cx="2286000" cy="932688"/>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2240280" y="1600200"/>
            <a:ext cx="2103120" cy="274320"/>
          </a:xfrm>
          <a:prstGeom prst="rect">
            <a:avLst/>
          </a:prstGeom>
          <a:noFill/>
        </p:spPr>
        <p:txBody>
          <a:bodyPr wrap="square" anchor="t" lIns="0" rIns="0" tIns="0" bIns="0">
            <a:spAutoFit/>
          </a:bodyPr>
          <a:lstStyle/>
          <a:p>
            <a:pPr algn="l"/>
            <a:r>
              <a:rPr sz="1100" b="1" i="0">
                <a:solidFill>
                  <a:srgbClr val="14201F"/>
                </a:solidFill>
                <a:latin typeface="Arial"/>
              </a:rPr>
              <a:t>Web (Next.js)</a:t>
            </a:r>
          </a:p>
        </p:txBody>
      </p:sp>
      <p:sp>
        <p:nvSpPr>
          <p:cNvPr id="121" name="TextBox 120"/>
          <p:cNvSpPr txBox="1"/>
          <p:nvPr/>
        </p:nvSpPr>
        <p:spPr>
          <a:xfrm>
            <a:off x="2240280" y="1874519"/>
            <a:ext cx="2103120" cy="566928"/>
          </a:xfrm>
          <a:prstGeom prst="rect">
            <a:avLst/>
          </a:prstGeom>
          <a:noFill/>
        </p:spPr>
        <p:txBody>
          <a:bodyPr wrap="square" anchor="t" lIns="0" rIns="0" tIns="0" bIns="0">
            <a:spAutoFit/>
          </a:bodyPr>
          <a:lstStyle/>
          <a:p>
            <a:pPr algn="l"/>
            <a:r>
              <a:rPr sz="900" b="0" i="0">
                <a:solidFill>
                  <a:srgbClr val="55625F"/>
                </a:solidFill>
                <a:latin typeface="Arial"/>
              </a:rPr>
              <a:t>Scam Shield, planner, audit, assistant UI</a:t>
            </a:r>
          </a:p>
        </p:txBody>
      </p:sp>
      <p:sp>
        <p:nvSpPr>
          <p:cNvPr id="122" name="Rounded Rectangle 121"/>
          <p:cNvSpPr/>
          <p:nvPr/>
        </p:nvSpPr>
        <p:spPr>
          <a:xfrm>
            <a:off x="4544568" y="1536192"/>
            <a:ext cx="2286000" cy="932688"/>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4636008" y="1600200"/>
            <a:ext cx="2103120" cy="274320"/>
          </a:xfrm>
          <a:prstGeom prst="rect">
            <a:avLst/>
          </a:prstGeom>
          <a:noFill/>
        </p:spPr>
        <p:txBody>
          <a:bodyPr wrap="square" anchor="t" lIns="0" rIns="0" tIns="0" bIns="0">
            <a:spAutoFit/>
          </a:bodyPr>
          <a:lstStyle/>
          <a:p>
            <a:pPr algn="l"/>
            <a:r>
              <a:rPr sz="1100" b="1" i="0">
                <a:solidFill>
                  <a:srgbClr val="14201F"/>
                </a:solidFill>
                <a:latin typeface="Arial"/>
              </a:rPr>
              <a:t>Platform</a:t>
            </a:r>
          </a:p>
        </p:txBody>
      </p:sp>
      <p:sp>
        <p:nvSpPr>
          <p:cNvPr id="124" name="TextBox 123"/>
          <p:cNvSpPr txBox="1"/>
          <p:nvPr/>
        </p:nvSpPr>
        <p:spPr>
          <a:xfrm>
            <a:off x="4636008" y="1874519"/>
            <a:ext cx="2103120" cy="566928"/>
          </a:xfrm>
          <a:prstGeom prst="rect">
            <a:avLst/>
          </a:prstGeom>
          <a:noFill/>
        </p:spPr>
        <p:txBody>
          <a:bodyPr wrap="square" anchor="t" lIns="0" rIns="0" tIns="0" bIns="0">
            <a:spAutoFit/>
          </a:bodyPr>
          <a:lstStyle/>
          <a:p>
            <a:pPr algn="l"/>
            <a:r>
              <a:rPr sz="900" b="0" i="0">
                <a:solidFill>
                  <a:srgbClr val="55625F"/>
                </a:solidFill>
                <a:latin typeface="Arial"/>
              </a:rPr>
              <a:t>Accounts, roles, portfolios, token signing</a:t>
            </a:r>
          </a:p>
        </p:txBody>
      </p:sp>
      <p:sp>
        <p:nvSpPr>
          <p:cNvPr id="125" name="Rounded Rectangle 124"/>
          <p:cNvSpPr/>
          <p:nvPr/>
        </p:nvSpPr>
        <p:spPr>
          <a:xfrm>
            <a:off x="2148840" y="2587752"/>
            <a:ext cx="2286000" cy="932688"/>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2240280" y="2651760"/>
            <a:ext cx="2103120" cy="274320"/>
          </a:xfrm>
          <a:prstGeom prst="rect">
            <a:avLst/>
          </a:prstGeom>
          <a:noFill/>
        </p:spPr>
        <p:txBody>
          <a:bodyPr wrap="square" anchor="t" lIns="0" rIns="0" tIns="0" bIns="0">
            <a:spAutoFit/>
          </a:bodyPr>
          <a:lstStyle/>
          <a:p>
            <a:pPr algn="l"/>
            <a:r>
              <a:rPr sz="1100" b="1" i="0">
                <a:solidFill>
                  <a:srgbClr val="14201F"/>
                </a:solidFill>
                <a:latin typeface="Arial"/>
              </a:rPr>
              <a:t>C2 Fraud &amp; Scam</a:t>
            </a:r>
          </a:p>
        </p:txBody>
      </p:sp>
      <p:sp>
        <p:nvSpPr>
          <p:cNvPr id="127" name="TextBox 126"/>
          <p:cNvSpPr txBox="1"/>
          <p:nvPr/>
        </p:nvSpPr>
        <p:spPr>
          <a:xfrm>
            <a:off x="2240280" y="2926080"/>
            <a:ext cx="2103120" cy="566928"/>
          </a:xfrm>
          <a:prstGeom prst="rect">
            <a:avLst/>
          </a:prstGeom>
          <a:noFill/>
        </p:spPr>
        <p:txBody>
          <a:bodyPr wrap="square" anchor="t" lIns="0" rIns="0" tIns="0" bIns="0">
            <a:spAutoFit/>
          </a:bodyPr>
          <a:lstStyle/>
          <a:p>
            <a:pPr algn="l"/>
            <a:r>
              <a:rPr sz="900" b="0" i="0">
                <a:solidFill>
                  <a:srgbClr val="55625F"/>
                </a:solidFill>
                <a:latin typeface="Arial"/>
              </a:rPr>
              <a:t>Gemini red flags, SHIELD-P001, gateway G1-G7, step-up, OKF bundle</a:t>
            </a:r>
          </a:p>
        </p:txBody>
      </p:sp>
      <p:sp>
        <p:nvSpPr>
          <p:cNvPr id="128" name="Rounded Rectangle 127"/>
          <p:cNvSpPr/>
          <p:nvPr/>
        </p:nvSpPr>
        <p:spPr>
          <a:xfrm>
            <a:off x="4544568" y="2587752"/>
            <a:ext cx="2286000" cy="932688"/>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636008" y="2651760"/>
            <a:ext cx="2103120" cy="274320"/>
          </a:xfrm>
          <a:prstGeom prst="rect">
            <a:avLst/>
          </a:prstGeom>
          <a:noFill/>
        </p:spPr>
        <p:txBody>
          <a:bodyPr wrap="square" anchor="t" lIns="0" rIns="0" tIns="0" bIns="0">
            <a:spAutoFit/>
          </a:bodyPr>
          <a:lstStyle/>
          <a:p>
            <a:pPr algn="l"/>
            <a:r>
              <a:rPr sz="1100" b="1" i="0">
                <a:solidFill>
                  <a:srgbClr val="14201F"/>
                </a:solidFill>
                <a:latin typeface="Arial"/>
              </a:rPr>
              <a:t>C1 Portfolio</a:t>
            </a:r>
          </a:p>
        </p:txBody>
      </p:sp>
      <p:sp>
        <p:nvSpPr>
          <p:cNvPr id="130" name="TextBox 129"/>
          <p:cNvSpPr txBox="1"/>
          <p:nvPr/>
        </p:nvSpPr>
        <p:spPr>
          <a:xfrm>
            <a:off x="4636008" y="2926080"/>
            <a:ext cx="2103120" cy="566928"/>
          </a:xfrm>
          <a:prstGeom prst="rect">
            <a:avLst/>
          </a:prstGeom>
          <a:noFill/>
        </p:spPr>
        <p:txBody>
          <a:bodyPr wrap="square" anchor="t" lIns="0" rIns="0" tIns="0" bIns="0">
            <a:spAutoFit/>
          </a:bodyPr>
          <a:lstStyle/>
          <a:p>
            <a:pPr algn="l"/>
            <a:r>
              <a:rPr sz="900" b="0" i="0">
                <a:solidFill>
                  <a:srgbClr val="55625F"/>
                </a:solidFill>
                <a:latin typeface="Arial"/>
              </a:rPr>
              <a:t>Fuzzy GA cash planner, MOEA/D, forecast bands, statement import</a:t>
            </a:r>
          </a:p>
        </p:txBody>
      </p:sp>
      <p:sp>
        <p:nvSpPr>
          <p:cNvPr id="131" name="Rounded Rectangle 130"/>
          <p:cNvSpPr/>
          <p:nvPr/>
        </p:nvSpPr>
        <p:spPr>
          <a:xfrm>
            <a:off x="2148840" y="3639311"/>
            <a:ext cx="2286000" cy="932688"/>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2240280" y="3703320"/>
            <a:ext cx="2103120" cy="274320"/>
          </a:xfrm>
          <a:prstGeom prst="rect">
            <a:avLst/>
          </a:prstGeom>
          <a:noFill/>
        </p:spPr>
        <p:txBody>
          <a:bodyPr wrap="square" anchor="t" lIns="0" rIns="0" tIns="0" bIns="0">
            <a:spAutoFit/>
          </a:bodyPr>
          <a:lstStyle/>
          <a:p>
            <a:pPr algn="l"/>
            <a:r>
              <a:rPr sz="1100" b="1" i="0">
                <a:solidFill>
                  <a:srgbClr val="14201F"/>
                </a:solidFill>
                <a:latin typeface="Arial"/>
              </a:rPr>
              <a:t>C4 Assistant</a:t>
            </a:r>
          </a:p>
        </p:txBody>
      </p:sp>
      <p:sp>
        <p:nvSpPr>
          <p:cNvPr id="133" name="TextBox 132"/>
          <p:cNvSpPr txBox="1"/>
          <p:nvPr/>
        </p:nvSpPr>
        <p:spPr>
          <a:xfrm>
            <a:off x="2240280" y="3977639"/>
            <a:ext cx="2103120" cy="566928"/>
          </a:xfrm>
          <a:prstGeom prst="rect">
            <a:avLst/>
          </a:prstGeom>
          <a:noFill/>
        </p:spPr>
        <p:txBody>
          <a:bodyPr wrap="square" anchor="t" lIns="0" rIns="0" tIns="0" bIns="0">
            <a:spAutoFit/>
          </a:bodyPr>
          <a:lstStyle/>
          <a:p>
            <a:pPr algn="l"/>
            <a:r>
              <a:rPr sz="900" b="0" i="0">
                <a:solidFill>
                  <a:srgbClr val="55625F"/>
                </a:solidFill>
                <a:latin typeface="Arial"/>
              </a:rPr>
              <a:t>LangGraph agent on Gemini, grounding check, Trust Panel</a:t>
            </a:r>
          </a:p>
        </p:txBody>
      </p:sp>
      <p:sp>
        <p:nvSpPr>
          <p:cNvPr id="134" name="Rounded Rectangle 133"/>
          <p:cNvSpPr/>
          <p:nvPr/>
        </p:nvSpPr>
        <p:spPr>
          <a:xfrm>
            <a:off x="4544568" y="3639311"/>
            <a:ext cx="2286000" cy="932688"/>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4636008" y="3703320"/>
            <a:ext cx="2103120" cy="274320"/>
          </a:xfrm>
          <a:prstGeom prst="rect">
            <a:avLst/>
          </a:prstGeom>
          <a:noFill/>
        </p:spPr>
        <p:txBody>
          <a:bodyPr wrap="square" anchor="t" lIns="0" rIns="0" tIns="0" bIns="0">
            <a:spAutoFit/>
          </a:bodyPr>
          <a:lstStyle/>
          <a:p>
            <a:pPr algn="l"/>
            <a:r>
              <a:rPr sz="1100" b="1" i="0">
                <a:solidFill>
                  <a:srgbClr val="14201F"/>
                </a:solidFill>
                <a:latin typeface="Arial"/>
              </a:rPr>
              <a:t>C3 Audit</a:t>
            </a:r>
          </a:p>
        </p:txBody>
      </p:sp>
      <p:sp>
        <p:nvSpPr>
          <p:cNvPr id="136" name="TextBox 135"/>
          <p:cNvSpPr txBox="1"/>
          <p:nvPr/>
        </p:nvSpPr>
        <p:spPr>
          <a:xfrm>
            <a:off x="4636008" y="3977639"/>
            <a:ext cx="2103120" cy="566928"/>
          </a:xfrm>
          <a:prstGeom prst="rect">
            <a:avLst/>
          </a:prstGeom>
          <a:noFill/>
        </p:spPr>
        <p:txBody>
          <a:bodyPr wrap="square" anchor="t" lIns="0" rIns="0" tIns="0" bIns="0">
            <a:spAutoFit/>
          </a:bodyPr>
          <a:lstStyle/>
          <a:p>
            <a:pPr algn="l"/>
            <a:r>
              <a:rPr sz="900" b="0" i="0">
                <a:solidFill>
                  <a:srgbClr val="55625F"/>
                </a:solidFill>
                <a:latin typeface="Arial"/>
              </a:rPr>
              <a:t>Policy P001, SHA-256 commitments, AuditRegistry.sol on an in-service EVM</a:t>
            </a:r>
          </a:p>
        </p:txBody>
      </p:sp>
      <p:sp>
        <p:nvSpPr>
          <p:cNvPr id="137" name="Rounded Rectangle 136"/>
          <p:cNvSpPr/>
          <p:nvPr/>
        </p:nvSpPr>
        <p:spPr>
          <a:xfrm>
            <a:off x="7178040" y="1143000"/>
            <a:ext cx="1691640" cy="804672"/>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7269480" y="1197864"/>
            <a:ext cx="1508760" cy="274320"/>
          </a:xfrm>
          <a:prstGeom prst="rect">
            <a:avLst/>
          </a:prstGeom>
          <a:noFill/>
        </p:spPr>
        <p:txBody>
          <a:bodyPr wrap="square" anchor="t" lIns="0" rIns="0" tIns="0" bIns="0">
            <a:spAutoFit/>
          </a:bodyPr>
          <a:lstStyle/>
          <a:p>
            <a:pPr algn="l"/>
            <a:r>
              <a:rPr sz="1050" b="1" i="0">
                <a:solidFill>
                  <a:srgbClr val="0B6E4F"/>
                </a:solidFill>
                <a:latin typeface="Arial"/>
              </a:rPr>
              <a:t>Gemini</a:t>
            </a:r>
          </a:p>
        </p:txBody>
      </p:sp>
      <p:sp>
        <p:nvSpPr>
          <p:cNvPr id="139" name="TextBox 138"/>
          <p:cNvSpPr txBox="1"/>
          <p:nvPr/>
        </p:nvSpPr>
        <p:spPr>
          <a:xfrm>
            <a:off x="7269480" y="1472184"/>
            <a:ext cx="1508760" cy="457200"/>
          </a:xfrm>
          <a:prstGeom prst="rect">
            <a:avLst/>
          </a:prstGeom>
          <a:noFill/>
        </p:spPr>
        <p:txBody>
          <a:bodyPr wrap="square" anchor="t" lIns="0" rIns="0" tIns="0" bIns="0">
            <a:spAutoFit/>
          </a:bodyPr>
          <a:lstStyle/>
          <a:p>
            <a:pPr algn="l"/>
            <a:r>
              <a:rPr sz="850" b="0" i="0">
                <a:solidFill>
                  <a:srgbClr val="55625F"/>
                </a:solidFill>
                <a:latin typeface="Arial"/>
              </a:rPr>
              <a:t>Red flags, agent reasoning, Sinhala and Tamil answers</a:t>
            </a:r>
          </a:p>
        </p:txBody>
      </p:sp>
      <p:sp>
        <p:nvSpPr>
          <p:cNvPr id="140" name="Rounded Rectangle 139"/>
          <p:cNvSpPr/>
          <p:nvPr/>
        </p:nvSpPr>
        <p:spPr>
          <a:xfrm>
            <a:off x="7178040" y="2057400"/>
            <a:ext cx="1691640" cy="8046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7269480" y="2112264"/>
            <a:ext cx="1508760" cy="274320"/>
          </a:xfrm>
          <a:prstGeom prst="rect">
            <a:avLst/>
          </a:prstGeom>
          <a:noFill/>
        </p:spPr>
        <p:txBody>
          <a:bodyPr wrap="square" anchor="t" lIns="0" rIns="0" tIns="0" bIns="0">
            <a:spAutoFit/>
          </a:bodyPr>
          <a:lstStyle/>
          <a:p>
            <a:pPr algn="l"/>
            <a:r>
              <a:rPr sz="1050" b="1" i="0">
                <a:solidFill>
                  <a:srgbClr val="14201F"/>
                </a:solidFill>
                <a:latin typeface="Arial"/>
              </a:rPr>
              <a:t>Secret Manager</a:t>
            </a:r>
          </a:p>
        </p:txBody>
      </p:sp>
      <p:sp>
        <p:nvSpPr>
          <p:cNvPr id="142" name="TextBox 141"/>
          <p:cNvSpPr txBox="1"/>
          <p:nvPr/>
        </p:nvSpPr>
        <p:spPr>
          <a:xfrm>
            <a:off x="7269480" y="2386584"/>
            <a:ext cx="1508760" cy="457200"/>
          </a:xfrm>
          <a:prstGeom prst="rect">
            <a:avLst/>
          </a:prstGeom>
          <a:noFill/>
        </p:spPr>
        <p:txBody>
          <a:bodyPr wrap="square" anchor="t" lIns="0" rIns="0" tIns="0" bIns="0">
            <a:spAutoFit/>
          </a:bodyPr>
          <a:lstStyle/>
          <a:p>
            <a:pPr algn="l"/>
            <a:r>
              <a:rPr sz="850" b="0" i="0">
                <a:solidFill>
                  <a:srgbClr val="55625F"/>
                </a:solidFill>
                <a:latin typeface="Arial"/>
              </a:rPr>
              <a:t>Signing key, service-client secrets</a:t>
            </a:r>
          </a:p>
        </p:txBody>
      </p:sp>
      <p:sp>
        <p:nvSpPr>
          <p:cNvPr id="143" name="Rounded Rectangle 142"/>
          <p:cNvSpPr/>
          <p:nvPr/>
        </p:nvSpPr>
        <p:spPr>
          <a:xfrm>
            <a:off x="7178040" y="2971800"/>
            <a:ext cx="1691640" cy="8046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7269480" y="3026664"/>
            <a:ext cx="1508760" cy="274320"/>
          </a:xfrm>
          <a:prstGeom prst="rect">
            <a:avLst/>
          </a:prstGeom>
          <a:noFill/>
        </p:spPr>
        <p:txBody>
          <a:bodyPr wrap="square" anchor="t" lIns="0" rIns="0" tIns="0" bIns="0">
            <a:spAutoFit/>
          </a:bodyPr>
          <a:lstStyle/>
          <a:p>
            <a:pPr algn="l"/>
            <a:r>
              <a:rPr sz="1050" b="1" i="0">
                <a:solidFill>
                  <a:srgbClr val="14201F"/>
                </a:solidFill>
                <a:latin typeface="Arial"/>
              </a:rPr>
              <a:t>Cloud Build</a:t>
            </a:r>
          </a:p>
        </p:txBody>
      </p:sp>
      <p:sp>
        <p:nvSpPr>
          <p:cNvPr id="145" name="TextBox 144"/>
          <p:cNvSpPr txBox="1"/>
          <p:nvPr/>
        </p:nvSpPr>
        <p:spPr>
          <a:xfrm>
            <a:off x="7269480" y="3300984"/>
            <a:ext cx="1508760" cy="457200"/>
          </a:xfrm>
          <a:prstGeom prst="rect">
            <a:avLst/>
          </a:prstGeom>
          <a:noFill/>
        </p:spPr>
        <p:txBody>
          <a:bodyPr wrap="square" anchor="t" lIns="0" rIns="0" tIns="0" bIns="0">
            <a:spAutoFit/>
          </a:bodyPr>
          <a:lstStyle/>
          <a:p>
            <a:pPr algn="l"/>
            <a:r>
              <a:rPr sz="850" b="0" i="0">
                <a:solidFill>
                  <a:srgbClr val="55625F"/>
                </a:solidFill>
                <a:latin typeface="Arial"/>
              </a:rPr>
              <a:t>Images per service, kept in Artifact Registry</a:t>
            </a:r>
          </a:p>
        </p:txBody>
      </p:sp>
      <p:sp>
        <p:nvSpPr>
          <p:cNvPr id="146" name="Rounded Rectangle 145"/>
          <p:cNvSpPr/>
          <p:nvPr/>
        </p:nvSpPr>
        <p:spPr>
          <a:xfrm>
            <a:off x="7178040" y="3886200"/>
            <a:ext cx="1691640" cy="8046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7269480" y="3941063"/>
            <a:ext cx="1508760" cy="274320"/>
          </a:xfrm>
          <a:prstGeom prst="rect">
            <a:avLst/>
          </a:prstGeom>
          <a:noFill/>
        </p:spPr>
        <p:txBody>
          <a:bodyPr wrap="square" anchor="t" lIns="0" rIns="0" tIns="0" bIns="0">
            <a:spAutoFit/>
          </a:bodyPr>
          <a:lstStyle/>
          <a:p>
            <a:pPr algn="l"/>
            <a:r>
              <a:rPr sz="1050" b="1" i="0">
                <a:solidFill>
                  <a:srgbClr val="14201F"/>
                </a:solidFill>
                <a:latin typeface="Arial"/>
              </a:rPr>
              <a:t>GitHub Actions + WIF</a:t>
            </a:r>
          </a:p>
        </p:txBody>
      </p:sp>
      <p:sp>
        <p:nvSpPr>
          <p:cNvPr id="148" name="TextBox 147"/>
          <p:cNvSpPr txBox="1"/>
          <p:nvPr/>
        </p:nvSpPr>
        <p:spPr>
          <a:xfrm>
            <a:off x="7269480" y="4215384"/>
            <a:ext cx="1508760" cy="457200"/>
          </a:xfrm>
          <a:prstGeom prst="rect">
            <a:avLst/>
          </a:prstGeom>
          <a:noFill/>
        </p:spPr>
        <p:txBody>
          <a:bodyPr wrap="square" anchor="t" lIns="0" rIns="0" tIns="0" bIns="0">
            <a:spAutoFit/>
          </a:bodyPr>
          <a:lstStyle/>
          <a:p>
            <a:pPr algn="l"/>
            <a:r>
              <a:rPr sz="850" b="0" i="0">
                <a:solidFill>
                  <a:srgbClr val="55625F"/>
                </a:solidFill>
                <a:latin typeface="Arial"/>
              </a:rPr>
              <a:t>Keyless deploy on every push</a:t>
            </a:r>
          </a:p>
        </p:txBody>
      </p:sp>
      <p:sp>
        <p:nvSpPr>
          <p:cNvPr id="149" name="Chevron 148"/>
          <p:cNvSpPr/>
          <p:nvPr/>
        </p:nvSpPr>
        <p:spPr>
          <a:xfrm>
            <a:off x="7013448" y="1417320"/>
            <a:ext cx="128016" cy="182880"/>
          </a:xfrm>
          <a:prstGeom prst="chevron">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Medium"/>
                <a:ea typeface="Google Sans Flex Medium"/>
                <a:cs typeface="Google Sans Flex Medium"/>
                <a:sym typeface="Google Sans Flex Medium"/>
              </a:rPr>
              <a:t>Technologies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274320" y="1188720"/>
            <a:ext cx="8595360" cy="804672"/>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411480" y="1435608"/>
            <a:ext cx="914400" cy="310896"/>
          </a:xfrm>
          <a:prstGeom prst="roundRect">
            <a:avLst>
              <a:gd name="adj" fmla="val 50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11480" y="1435608"/>
            <a:ext cx="914400" cy="310896"/>
          </a:xfrm>
          <a:prstGeom prst="rect">
            <a:avLst/>
          </a:prstGeom>
          <a:noFill/>
        </p:spPr>
        <p:txBody>
          <a:bodyPr wrap="square" anchor="ctr" lIns="0" rIns="0" tIns="0" bIns="0">
            <a:spAutoFit/>
          </a:bodyPr>
          <a:lstStyle/>
          <a:p>
            <a:pPr algn="ctr"/>
            <a:r>
              <a:rPr sz="1050" b="1" i="0">
                <a:solidFill>
                  <a:srgbClr val="FFFFFF"/>
                </a:solidFill>
                <a:latin typeface="Arial"/>
              </a:rPr>
              <a:t>Live</a:t>
            </a:r>
          </a:p>
        </p:txBody>
      </p:sp>
      <p:sp>
        <p:nvSpPr>
          <p:cNvPr id="123" name="TextBox 122"/>
          <p:cNvSpPr txBox="1"/>
          <p:nvPr/>
        </p:nvSpPr>
        <p:spPr>
          <a:xfrm>
            <a:off x="1508760" y="1280160"/>
            <a:ext cx="7223760" cy="640080"/>
          </a:xfrm>
          <a:prstGeom prst="rect">
            <a:avLst/>
          </a:prstGeom>
          <a:noFill/>
        </p:spPr>
        <p:txBody>
          <a:bodyPr wrap="square" anchor="ctr" lIns="0" rIns="0" tIns="0" bIns="0">
            <a:spAutoFit/>
          </a:bodyPr>
          <a:lstStyle/>
          <a:p>
            <a:pPr algn="l"/>
            <a:r>
              <a:rPr sz="1100" b="0" i="0">
                <a:solidFill>
                  <a:srgbClr val="14201F"/>
                </a:solidFill>
                <a:latin typeface="Arial"/>
              </a:rPr>
              <a:t>Gemini (red flags, agent, Sinhala/Tamil) · Cloud Run (6 services) · Cloud Build · Artifact Registry · Secret Manager · Workload Identity Federation · Open Knowledge Format (OKF) · Cloud Logging</a:t>
            </a:r>
          </a:p>
        </p:txBody>
      </p:sp>
      <p:sp>
        <p:nvSpPr>
          <p:cNvPr id="124" name="Rounded Rectangle 123"/>
          <p:cNvSpPr/>
          <p:nvPr/>
        </p:nvSpPr>
        <p:spPr>
          <a:xfrm>
            <a:off x="274320" y="2103120"/>
            <a:ext cx="8595360" cy="804672"/>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ounded Rectangle 124"/>
          <p:cNvSpPr/>
          <p:nvPr/>
        </p:nvSpPr>
        <p:spPr>
          <a:xfrm>
            <a:off x="411480" y="2350008"/>
            <a:ext cx="914400" cy="310896"/>
          </a:xfrm>
          <a:prstGeom prst="roundRect">
            <a:avLst>
              <a:gd name="adj" fmla="val 50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411480" y="2350008"/>
            <a:ext cx="914400" cy="310896"/>
          </a:xfrm>
          <a:prstGeom prst="rect">
            <a:avLst/>
          </a:prstGeom>
          <a:noFill/>
        </p:spPr>
        <p:txBody>
          <a:bodyPr wrap="square" anchor="ctr" lIns="0" rIns="0" tIns="0" bIns="0">
            <a:spAutoFit/>
          </a:bodyPr>
          <a:lstStyle/>
          <a:p>
            <a:pPr algn="ctr"/>
            <a:r>
              <a:rPr sz="1050" b="1" i="0">
                <a:solidFill>
                  <a:srgbClr val="FFFFFF"/>
                </a:solidFill>
                <a:latin typeface="Arial"/>
              </a:rPr>
              <a:t>Live</a:t>
            </a:r>
          </a:p>
        </p:txBody>
      </p:sp>
      <p:sp>
        <p:nvSpPr>
          <p:cNvPr id="127" name="TextBox 126"/>
          <p:cNvSpPr txBox="1"/>
          <p:nvPr/>
        </p:nvSpPr>
        <p:spPr>
          <a:xfrm>
            <a:off x="1508760" y="2194560"/>
            <a:ext cx="7223760" cy="640080"/>
          </a:xfrm>
          <a:prstGeom prst="rect">
            <a:avLst/>
          </a:prstGeom>
          <a:noFill/>
        </p:spPr>
        <p:txBody>
          <a:bodyPr wrap="square" anchor="ctr" lIns="0" rIns="0" tIns="0" bIns="0">
            <a:spAutoFit/>
          </a:bodyPr>
          <a:lstStyle/>
          <a:p>
            <a:pPr algn="l"/>
            <a:r>
              <a:rPr sz="1100" b="0" i="0">
                <a:solidFill>
                  <a:srgbClr val="14201F"/>
                </a:solidFill>
                <a:latin typeface="Arial"/>
              </a:rPr>
              <a:t>Next.js 16 + React 19 · FastAPI · Express · LangGraph · Expo (React Native) · Hardhat EVM + Solidity · OData v4 · RS256 / JWKS</a:t>
            </a:r>
          </a:p>
        </p:txBody>
      </p:sp>
      <p:sp>
        <p:nvSpPr>
          <p:cNvPr id="128" name="Rounded Rectangle 127"/>
          <p:cNvSpPr/>
          <p:nvPr/>
        </p:nvSpPr>
        <p:spPr>
          <a:xfrm>
            <a:off x="274320" y="3017520"/>
            <a:ext cx="8595360" cy="804672"/>
          </a:xfrm>
          <a:prstGeom prst="roundRect">
            <a:avLst>
              <a:gd name="adj" fmla="val 12000"/>
            </a:avLst>
          </a:prstGeom>
          <a:solidFill>
            <a:srgbClr val="FD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411480" y="3264408"/>
            <a:ext cx="914400" cy="310896"/>
          </a:xfrm>
          <a:prstGeom prst="roundRect">
            <a:avLst>
              <a:gd name="adj" fmla="val 50000"/>
            </a:avLst>
          </a:prstGeom>
          <a:solidFill>
            <a:srgbClr val="8A5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411480" y="3264408"/>
            <a:ext cx="914400" cy="310896"/>
          </a:xfrm>
          <a:prstGeom prst="rect">
            <a:avLst/>
          </a:prstGeom>
          <a:noFill/>
        </p:spPr>
        <p:txBody>
          <a:bodyPr wrap="square" anchor="ctr" lIns="0" rIns="0" tIns="0" bIns="0">
            <a:spAutoFit/>
          </a:bodyPr>
          <a:lstStyle/>
          <a:p>
            <a:pPr algn="ctr"/>
            <a:r>
              <a:rPr sz="1050" b="1" i="0">
                <a:solidFill>
                  <a:srgbClr val="FFFFFF"/>
                </a:solidFill>
                <a:latin typeface="Arial"/>
              </a:rPr>
              <a:t>Offline</a:t>
            </a:r>
          </a:p>
        </p:txBody>
      </p:sp>
      <p:sp>
        <p:nvSpPr>
          <p:cNvPr id="131" name="TextBox 130"/>
          <p:cNvSpPr txBox="1"/>
          <p:nvPr/>
        </p:nvSpPr>
        <p:spPr>
          <a:xfrm>
            <a:off x="1508760" y="3108960"/>
            <a:ext cx="7223760" cy="640080"/>
          </a:xfrm>
          <a:prstGeom prst="rect">
            <a:avLst/>
          </a:prstGeom>
          <a:noFill/>
        </p:spPr>
        <p:txBody>
          <a:bodyPr wrap="square" anchor="ctr" lIns="0" rIns="0" tIns="0" bIns="0">
            <a:spAutoFit/>
          </a:bodyPr>
          <a:lstStyle/>
          <a:p>
            <a:pPr algn="l"/>
            <a:r>
              <a:rPr sz="1100" b="0" i="0">
                <a:solidFill>
                  <a:srgbClr val="14201F"/>
                </a:solidFill>
                <a:latin typeface="Arial"/>
              </a:rPr>
              <a:t>TimesFM fine-tuned with LoRA on a Colab T4 + LSTM residual head; walk-forward evaluation</a:t>
            </a:r>
          </a:p>
        </p:txBody>
      </p:sp>
      <p:sp>
        <p:nvSpPr>
          <p:cNvPr id="132" name="Rounded Rectangle 131"/>
          <p:cNvSpPr/>
          <p:nvPr/>
        </p:nvSpPr>
        <p:spPr>
          <a:xfrm>
            <a:off x="274320" y="3931920"/>
            <a:ext cx="8595360" cy="8046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ounded Rectangle 132"/>
          <p:cNvSpPr/>
          <p:nvPr/>
        </p:nvSpPr>
        <p:spPr>
          <a:xfrm>
            <a:off x="411480" y="4178808"/>
            <a:ext cx="914400" cy="310896"/>
          </a:xfrm>
          <a:prstGeom prst="roundRect">
            <a:avLst>
              <a:gd name="adj" fmla="val 50000"/>
            </a:avLst>
          </a:prstGeom>
          <a:solidFill>
            <a:srgbClr val="556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411480" y="4178808"/>
            <a:ext cx="914400" cy="310896"/>
          </a:xfrm>
          <a:prstGeom prst="rect">
            <a:avLst/>
          </a:prstGeom>
          <a:noFill/>
        </p:spPr>
        <p:txBody>
          <a:bodyPr wrap="square" anchor="ctr" lIns="0" rIns="0" tIns="0" bIns="0">
            <a:spAutoFit/>
          </a:bodyPr>
          <a:lstStyle/>
          <a:p>
            <a:pPr algn="ctr"/>
            <a:r>
              <a:rPr sz="1050" b="1" i="0">
                <a:solidFill>
                  <a:srgbClr val="FFFFFF"/>
                </a:solidFill>
                <a:latin typeface="Arial"/>
              </a:rPr>
              <a:t>Planned</a:t>
            </a:r>
          </a:p>
        </p:txBody>
      </p:sp>
      <p:sp>
        <p:nvSpPr>
          <p:cNvPr id="135" name="TextBox 134"/>
          <p:cNvSpPr txBox="1"/>
          <p:nvPr/>
        </p:nvSpPr>
        <p:spPr>
          <a:xfrm>
            <a:off x="1508760" y="4023359"/>
            <a:ext cx="7223760" cy="640080"/>
          </a:xfrm>
          <a:prstGeom prst="rect">
            <a:avLst/>
          </a:prstGeom>
          <a:noFill/>
        </p:spPr>
        <p:txBody>
          <a:bodyPr wrap="square" anchor="ctr" lIns="0" rIns="0" tIns="0" bIns="0">
            <a:spAutoFit/>
          </a:bodyPr>
          <a:lstStyle/>
          <a:p>
            <a:pPr algn="l"/>
            <a:r>
              <a:rPr sz="1100" b="0" i="0">
                <a:solidFill>
                  <a:srgbClr val="14201F"/>
                </a:solidFill>
                <a:latin typeface="Arial"/>
              </a:rPr>
              <a:t>Vertex AI, ADK + Agent Engine, BigQuery ML AI.FORECAST, Document AI, Vertex AI Search, Pub/Sub, Firestore, Firebase Auth, Cloud Armor, VPC-SC, Blockchain Node Engine</a:t>
            </a:r>
          </a:p>
        </p:txBody>
      </p:sp>
      <p:sp>
        <p:nvSpPr>
          <p:cNvPr id="136" name="TextBox 135"/>
          <p:cNvSpPr txBox="1"/>
          <p:nvPr/>
        </p:nvSpPr>
        <p:spPr>
          <a:xfrm>
            <a:off x="274320" y="4846320"/>
            <a:ext cx="8595360" cy="201168"/>
          </a:xfrm>
          <a:prstGeom prst="rect">
            <a:avLst/>
          </a:prstGeom>
          <a:noFill/>
        </p:spPr>
        <p:txBody>
          <a:bodyPr wrap="square" anchor="t" lIns="0" rIns="0" tIns="0" bIns="0">
            <a:spAutoFit/>
          </a:bodyPr>
          <a:lstStyle/>
          <a:p>
            <a:pPr algn="l"/>
            <a:r>
              <a:rPr sz="900" b="0" i="0">
                <a:solidFill>
                  <a:srgbClr val="55625F"/>
                </a:solidFill>
                <a:latin typeface="Arial"/>
              </a:rPr>
              <a:t>Status as deployed on 18 Oct 2026. The README's technology map lists the same split.</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shot-verdict.png"/>
          <p:cNvPicPr>
            <a:picLocks noChangeAspect="1"/>
          </p:cNvPicPr>
          <p:nvPr/>
        </p:nvPicPr>
        <p:blipFill>
          <a:blip r:embed="rId5"/>
          <a:srcRect t="12500"/>
          <a:stretch>
            <a:fillRect/>
          </a:stretch>
        </p:blipFill>
        <p:spPr>
          <a:xfrm>
            <a:off x="274320" y="1143000"/>
            <a:ext cx="2788920" cy="1525190"/>
          </a:xfrm>
          <a:prstGeom prst="rect">
            <a:avLst/>
          </a:prstGeom>
          <a:ln w="9525">
            <a:solidFill>
              <a:srgbClr val="DDE3E1"/>
            </a:solidFill>
          </a:ln>
        </p:spPr>
      </p:pic>
      <p:sp>
        <p:nvSpPr>
          <p:cNvPr id="137" name="TextBox 136"/>
          <p:cNvSpPr txBox="1"/>
          <p:nvPr/>
        </p:nvSpPr>
        <p:spPr>
          <a:xfrm>
            <a:off x="3154679" y="1234440"/>
            <a:ext cx="1325880" cy="1554480"/>
          </a:xfrm>
          <a:prstGeom prst="rect">
            <a:avLst/>
          </a:prstGeom>
          <a:noFill/>
        </p:spPr>
        <p:txBody>
          <a:bodyPr wrap="square" anchor="t" lIns="0" rIns="0" tIns="0" bIns="0">
            <a:spAutoFit/>
          </a:bodyPr>
          <a:lstStyle/>
          <a:p>
            <a:pPr algn="l"/>
            <a:r>
              <a:rPr sz="1000" b="0" i="0">
                <a:solidFill>
                  <a:srgbClr val="55625F"/>
                </a:solidFill>
                <a:latin typeface="Arial"/>
              </a:rPr>
              <a:t>Scam Shield: STOP stamp, reasons, cited OKF scam patterns; red flags read by Gemini</a:t>
            </a:r>
          </a:p>
        </p:txBody>
      </p:sp>
      <p:pic>
        <p:nvPicPr>
          <p:cNvPr id="138" name="Picture 137" descr="shot-assistant.png"/>
          <p:cNvPicPr>
            <a:picLocks noChangeAspect="1"/>
          </p:cNvPicPr>
          <p:nvPr/>
        </p:nvPicPr>
        <p:blipFill>
          <a:blip r:embed="rId6"/>
          <a:srcRect t="12500"/>
          <a:stretch>
            <a:fillRect/>
          </a:stretch>
        </p:blipFill>
        <p:spPr>
          <a:xfrm>
            <a:off x="4617720" y="1143000"/>
            <a:ext cx="2788920" cy="1525190"/>
          </a:xfrm>
          <a:prstGeom prst="rect">
            <a:avLst/>
          </a:prstGeom>
          <a:ln w="9525">
            <a:solidFill>
              <a:srgbClr val="DDE3E1"/>
            </a:solidFill>
          </a:ln>
        </p:spPr>
      </p:pic>
      <p:sp>
        <p:nvSpPr>
          <p:cNvPr id="139" name="TextBox 138"/>
          <p:cNvSpPr txBox="1"/>
          <p:nvPr/>
        </p:nvSpPr>
        <p:spPr>
          <a:xfrm>
            <a:off x="7498079" y="1234440"/>
            <a:ext cx="1325880" cy="1554480"/>
          </a:xfrm>
          <a:prstGeom prst="rect">
            <a:avLst/>
          </a:prstGeom>
          <a:noFill/>
        </p:spPr>
        <p:txBody>
          <a:bodyPr wrap="square" anchor="t" lIns="0" rIns="0" tIns="0" bIns="0">
            <a:spAutoFit/>
          </a:bodyPr>
          <a:lstStyle/>
          <a:p>
            <a:pPr algn="l"/>
            <a:r>
              <a:rPr sz="1000" b="0" i="0">
                <a:solidFill>
                  <a:srgbClr val="55625F"/>
                </a:solidFill>
                <a:latin typeface="Arial"/>
              </a:rPr>
              <a:t>Assistant answering in Sinhala, from the scam-check tool</a:t>
            </a:r>
          </a:p>
        </p:txBody>
      </p:sp>
      <p:pic>
        <p:nvPicPr>
          <p:cNvPr id="140" name="Picture 139" descr="shot-withdraw.png"/>
          <p:cNvPicPr>
            <a:picLocks noChangeAspect="1"/>
          </p:cNvPicPr>
          <p:nvPr/>
        </p:nvPicPr>
        <p:blipFill>
          <a:blip r:embed="rId7"/>
          <a:srcRect t="12500"/>
          <a:stretch>
            <a:fillRect/>
          </a:stretch>
        </p:blipFill>
        <p:spPr>
          <a:xfrm>
            <a:off x="274320" y="3063240"/>
            <a:ext cx="2788920" cy="1525190"/>
          </a:xfrm>
          <a:prstGeom prst="rect">
            <a:avLst/>
          </a:prstGeom>
          <a:ln w="9525">
            <a:solidFill>
              <a:srgbClr val="DDE3E1"/>
            </a:solidFill>
          </a:ln>
        </p:spPr>
      </p:pic>
      <p:sp>
        <p:nvSpPr>
          <p:cNvPr id="141" name="TextBox 140"/>
          <p:cNvSpPr txBox="1"/>
          <p:nvPr/>
        </p:nvSpPr>
        <p:spPr>
          <a:xfrm>
            <a:off x="3154679" y="3154680"/>
            <a:ext cx="1325880" cy="1554480"/>
          </a:xfrm>
          <a:prstGeom prst="rect">
            <a:avLst/>
          </a:prstGeom>
          <a:noFill/>
        </p:spPr>
        <p:txBody>
          <a:bodyPr wrap="square" anchor="t" lIns="0" rIns="0" tIns="0" bIns="0">
            <a:spAutoFit/>
          </a:bodyPr>
          <a:lstStyle/>
          <a:p>
            <a:pPr algn="l"/>
            <a:r>
              <a:rPr sz="1000" b="0" i="0">
                <a:solidFill>
                  <a:srgbClr val="55625F"/>
                </a:solidFill>
                <a:latin typeface="Arial"/>
              </a:rPr>
              <a:t>Cash planner: feasible plan and its cost against three baselines</a:t>
            </a:r>
          </a:p>
        </p:txBody>
      </p:sp>
      <p:pic>
        <p:nvPicPr>
          <p:cNvPr id="142" name="Picture 141" descr="shot-tamper.png"/>
          <p:cNvPicPr>
            <a:picLocks noChangeAspect="1"/>
          </p:cNvPicPr>
          <p:nvPr/>
        </p:nvPicPr>
        <p:blipFill>
          <a:blip r:embed="rId8"/>
          <a:srcRect t="12500"/>
          <a:stretch>
            <a:fillRect/>
          </a:stretch>
        </p:blipFill>
        <p:spPr>
          <a:xfrm>
            <a:off x="4617720" y="3063240"/>
            <a:ext cx="2788920" cy="1525190"/>
          </a:xfrm>
          <a:prstGeom prst="rect">
            <a:avLst/>
          </a:prstGeom>
          <a:ln w="9525">
            <a:solidFill>
              <a:srgbClr val="DDE3E1"/>
            </a:solidFill>
          </a:ln>
        </p:spPr>
      </p:pic>
      <p:sp>
        <p:nvSpPr>
          <p:cNvPr id="143" name="TextBox 142"/>
          <p:cNvSpPr txBox="1"/>
          <p:nvPr/>
        </p:nvSpPr>
        <p:spPr>
          <a:xfrm>
            <a:off x="7498079" y="3154680"/>
            <a:ext cx="1325880" cy="1554480"/>
          </a:xfrm>
          <a:prstGeom prst="rect">
            <a:avLst/>
          </a:prstGeom>
          <a:noFill/>
        </p:spPr>
        <p:txBody>
          <a:bodyPr wrap="square" anchor="t" lIns="0" rIns="0" tIns="0" bIns="0">
            <a:spAutoFit/>
          </a:bodyPr>
          <a:lstStyle/>
          <a:p>
            <a:pPr algn="l"/>
            <a:r>
              <a:rPr sz="1000" b="0" i="0">
                <a:solidFill>
                  <a:srgbClr val="55625F"/>
                </a:solidFill>
                <a:latin typeface="Arial"/>
              </a:rPr>
              <a:t>Audit: record altered, verification fails against the contract</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Medium"/>
                <a:ea typeface="Google Sans Flex Medium"/>
                <a:cs typeface="Google Sans Flex Medium"/>
                <a:sym typeface="Google Sans Flex Medium"/>
              </a:rPr>
              <a:t>Prototype performance report / benchmarking</a:t>
            </a:r>
            <a:endParaRPr sz="1600">
              <a:latin typeface="Google Sans Flex Medium"/>
              <a:ea typeface="Google Sans Flex Medium"/>
              <a:cs typeface="Google Sans Flex Medium"/>
              <a:sym typeface="Google Sans Flex Medium"/>
            </a:endParaRPr>
          </a:p>
        </p:txBody>
      </p:sp>
      <p:graphicFrame>
        <p:nvGraphicFramePr>
          <p:cNvPr id="144" name="Chart 143"/>
          <p:cNvGraphicFramePr>
            <a:graphicFrameLocks noGrp="1"/>
          </p:cNvGraphicFramePr>
          <p:nvPr/>
        </p:nvGraphicFramePr>
        <p:xfrm>
          <a:off x="274320" y="1188720"/>
          <a:ext cx="4206240" cy="2103120"/>
        </p:xfrm>
        <a:graphic>
          <a:graphicData uri="http://schemas.openxmlformats.org/drawingml/2006/chart">
            <c:chart r:id="rId5"/>
          </a:graphicData>
        </a:graphic>
      </p:graphicFrame>
      <p:sp>
        <p:nvSpPr>
          <p:cNvPr id="145" name="TextBox 144"/>
          <p:cNvSpPr txBox="1"/>
          <p:nvPr/>
        </p:nvSpPr>
        <p:spPr>
          <a:xfrm>
            <a:off x="274320" y="3383280"/>
            <a:ext cx="4206240" cy="1463040"/>
          </a:xfrm>
          <a:prstGeom prst="rect">
            <a:avLst/>
          </a:prstGeom>
          <a:noFill/>
        </p:spPr>
        <p:txBody>
          <a:bodyPr wrap="square" anchor="t" lIns="0" rIns="0" tIns="0" bIns="0">
            <a:spAutoFit/>
          </a:bodyPr>
          <a:lstStyle/>
          <a:p>
            <a:pPr algn="l">
              <a:spcAft>
                <a:spcPts val="400"/>
              </a:spcAft>
            </a:pPr>
            <a:r>
              <a:rPr sz="1800" b="1" i="0">
                <a:solidFill>
                  <a:srgbClr val="0B6E4F"/>
                </a:solidFill>
                <a:latin typeface="Arial"/>
              </a:rPr>
              <a:t>−6.8% pinball loss</a:t>
            </a:r>
          </a:p>
          <a:p>
            <a:pPr algn="l">
              <a:spcAft>
                <a:spcPts val="400"/>
              </a:spcAft>
            </a:pPr>
            <a:r>
              <a:rPr sz="1000" b="0" i="0">
                <a:solidFill>
                  <a:srgbClr val="55625F"/>
                </a:solidFill>
                <a:latin typeface="Arial"/>
              </a:rPr>
              <a:t>MAE 0.0248 vs 0.0264. Upper band more honest (p90 coverage 87.2% vs 84.4%, target 90%). Not better everywhere: p10 and p50 coverage drift further from target. Walk-forward, no look-ahead, 8,558 vs 9,944 predictions.</a:t>
            </a:r>
          </a:p>
        </p:txBody>
      </p:sp>
      <p:sp>
        <p:nvSpPr>
          <p:cNvPr id="146" name="Rounded Rectangle 145"/>
          <p:cNvSpPr/>
          <p:nvPr/>
        </p:nvSpPr>
        <p:spPr>
          <a:xfrm>
            <a:off x="4709160" y="1188720"/>
            <a:ext cx="4160520" cy="8046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4846320" y="1298448"/>
            <a:ext cx="1234440" cy="585216"/>
          </a:xfrm>
          <a:prstGeom prst="rect">
            <a:avLst/>
          </a:prstGeom>
          <a:noFill/>
        </p:spPr>
        <p:txBody>
          <a:bodyPr wrap="square" anchor="ctr" lIns="0" rIns="0" tIns="0" bIns="0">
            <a:spAutoFit/>
          </a:bodyPr>
          <a:lstStyle/>
          <a:p>
            <a:pPr algn="l"/>
            <a:r>
              <a:rPr sz="1700" b="1" i="0">
                <a:solidFill>
                  <a:srgbClr val="0B6E4F"/>
                </a:solidFill>
                <a:latin typeface="Arial"/>
              </a:rPr>
              <a:t>11 / 11</a:t>
            </a:r>
          </a:p>
        </p:txBody>
      </p:sp>
      <p:sp>
        <p:nvSpPr>
          <p:cNvPr id="148" name="TextBox 147"/>
          <p:cNvSpPr txBox="1"/>
          <p:nvPr/>
        </p:nvSpPr>
        <p:spPr>
          <a:xfrm>
            <a:off x="6126480" y="1280160"/>
            <a:ext cx="2651760" cy="640080"/>
          </a:xfrm>
          <a:prstGeom prst="rect">
            <a:avLst/>
          </a:prstGeom>
          <a:noFill/>
        </p:spPr>
        <p:txBody>
          <a:bodyPr wrap="square" anchor="ctr" lIns="0" rIns="0" tIns="0" bIns="0">
            <a:spAutoFit/>
          </a:bodyPr>
          <a:lstStyle/>
          <a:p>
            <a:pPr algn="l"/>
            <a:r>
              <a:rPr sz="1000" b="0" i="0">
                <a:solidFill>
                  <a:srgbClr val="14201F"/>
                </a:solidFill>
                <a:latin typeface="Arial"/>
              </a:rPr>
              <a:t>live end-to-end checks pass on Cloud Run</a:t>
            </a:r>
          </a:p>
        </p:txBody>
      </p:sp>
      <p:sp>
        <p:nvSpPr>
          <p:cNvPr id="149" name="Rounded Rectangle 148"/>
          <p:cNvSpPr/>
          <p:nvPr/>
        </p:nvSpPr>
        <p:spPr>
          <a:xfrm>
            <a:off x="4709160" y="2103120"/>
            <a:ext cx="4160520" cy="8046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4846320" y="2212848"/>
            <a:ext cx="1234440" cy="585216"/>
          </a:xfrm>
          <a:prstGeom prst="rect">
            <a:avLst/>
          </a:prstGeom>
          <a:noFill/>
        </p:spPr>
        <p:txBody>
          <a:bodyPr wrap="square" anchor="ctr" lIns="0" rIns="0" tIns="0" bIns="0">
            <a:spAutoFit/>
          </a:bodyPr>
          <a:lstStyle/>
          <a:p>
            <a:pPr algn="l"/>
            <a:r>
              <a:rPr sz="1700" b="1" i="0">
                <a:solidFill>
                  <a:srgbClr val="0B6E4F"/>
                </a:solidFill>
                <a:latin typeface="Arial"/>
              </a:rPr>
              <a:t>176 +</a:t>
            </a:r>
          </a:p>
        </p:txBody>
      </p:sp>
      <p:sp>
        <p:nvSpPr>
          <p:cNvPr id="151" name="TextBox 150"/>
          <p:cNvSpPr txBox="1"/>
          <p:nvPr/>
        </p:nvSpPr>
        <p:spPr>
          <a:xfrm>
            <a:off x="6126480" y="2194560"/>
            <a:ext cx="2651760" cy="640080"/>
          </a:xfrm>
          <a:prstGeom prst="rect">
            <a:avLst/>
          </a:prstGeom>
          <a:noFill/>
        </p:spPr>
        <p:txBody>
          <a:bodyPr wrap="square" anchor="ctr" lIns="0" rIns="0" tIns="0" bIns="0">
            <a:spAutoFit/>
          </a:bodyPr>
          <a:lstStyle/>
          <a:p>
            <a:pPr algn="l"/>
            <a:r>
              <a:rPr sz="1000" b="0" i="0">
                <a:solidFill>
                  <a:srgbClr val="14201F"/>
                </a:solidFill>
                <a:latin typeface="Arial"/>
              </a:rPr>
              <a:t>automated tests passing: platform 63, fraud 46, assistant 22, web 38, mobile 7, plus the audit suite</a:t>
            </a:r>
          </a:p>
        </p:txBody>
      </p:sp>
      <p:sp>
        <p:nvSpPr>
          <p:cNvPr id="152" name="Rounded Rectangle 151"/>
          <p:cNvSpPr/>
          <p:nvPr/>
        </p:nvSpPr>
        <p:spPr>
          <a:xfrm>
            <a:off x="4709160" y="3017520"/>
            <a:ext cx="4160520" cy="8046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4846320" y="3127248"/>
            <a:ext cx="1234440" cy="585216"/>
          </a:xfrm>
          <a:prstGeom prst="rect">
            <a:avLst/>
          </a:prstGeom>
          <a:noFill/>
        </p:spPr>
        <p:txBody>
          <a:bodyPr wrap="square" anchor="ctr" lIns="0" rIns="0" tIns="0" bIns="0">
            <a:spAutoFit/>
          </a:bodyPr>
          <a:lstStyle/>
          <a:p>
            <a:pPr algn="l"/>
            <a:r>
              <a:rPr sz="1700" b="1" i="0">
                <a:solidFill>
                  <a:srgbClr val="0B6E4F"/>
                </a:solidFill>
                <a:latin typeface="Arial"/>
              </a:rPr>
              <a:t>401 / 403</a:t>
            </a:r>
          </a:p>
        </p:txBody>
      </p:sp>
      <p:sp>
        <p:nvSpPr>
          <p:cNvPr id="154" name="TextBox 153"/>
          <p:cNvSpPr txBox="1"/>
          <p:nvPr/>
        </p:nvSpPr>
        <p:spPr>
          <a:xfrm>
            <a:off x="6126480" y="3108960"/>
            <a:ext cx="2651760" cy="640080"/>
          </a:xfrm>
          <a:prstGeom prst="rect">
            <a:avLst/>
          </a:prstGeom>
          <a:noFill/>
        </p:spPr>
        <p:txBody>
          <a:bodyPr wrap="square" anchor="ctr" lIns="0" rIns="0" tIns="0" bIns="0">
            <a:spAutoFit/>
          </a:bodyPr>
          <a:lstStyle/>
          <a:p>
            <a:pPr algn="l"/>
            <a:r>
              <a:rPr sz="1000" b="0" i="0">
                <a:solidFill>
                  <a:srgbClr val="14201F"/>
                </a:solidFill>
                <a:latin typeface="Arial"/>
              </a:rPr>
              <a:t>no token or wrong role is refused, by every service</a:t>
            </a:r>
          </a:p>
        </p:txBody>
      </p:sp>
      <p:sp>
        <p:nvSpPr>
          <p:cNvPr id="155" name="Rounded Rectangle 154"/>
          <p:cNvSpPr/>
          <p:nvPr/>
        </p:nvSpPr>
        <p:spPr>
          <a:xfrm>
            <a:off x="4709160" y="3931920"/>
            <a:ext cx="4160520" cy="8046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846320" y="4041648"/>
            <a:ext cx="1234440" cy="585216"/>
          </a:xfrm>
          <a:prstGeom prst="rect">
            <a:avLst/>
          </a:prstGeom>
          <a:noFill/>
        </p:spPr>
        <p:txBody>
          <a:bodyPr wrap="square" anchor="ctr" lIns="0" rIns="0" tIns="0" bIns="0">
            <a:spAutoFit/>
          </a:bodyPr>
          <a:lstStyle/>
          <a:p>
            <a:pPr algn="l"/>
            <a:r>
              <a:rPr sz="1700" b="1" i="0">
                <a:solidFill>
                  <a:srgbClr val="0B6E4F"/>
                </a:solidFill>
                <a:latin typeface="Arial"/>
              </a:rPr>
              <a:t>6 / 6</a:t>
            </a:r>
          </a:p>
        </p:txBody>
      </p:sp>
      <p:sp>
        <p:nvSpPr>
          <p:cNvPr id="157" name="TextBox 156"/>
          <p:cNvSpPr txBox="1"/>
          <p:nvPr/>
        </p:nvSpPr>
        <p:spPr>
          <a:xfrm>
            <a:off x="6126480" y="4023359"/>
            <a:ext cx="2651760" cy="640080"/>
          </a:xfrm>
          <a:prstGeom prst="rect">
            <a:avLst/>
          </a:prstGeom>
          <a:noFill/>
        </p:spPr>
        <p:txBody>
          <a:bodyPr wrap="square" anchor="ctr" lIns="0" rIns="0" tIns="0" bIns="0">
            <a:spAutoFit/>
          </a:bodyPr>
          <a:lstStyle/>
          <a:p>
            <a:pPr algn="l"/>
            <a:r>
              <a:rPr sz="1000" b="0" i="0">
                <a:solidFill>
                  <a:srgbClr val="14201F"/>
                </a:solidFill>
                <a:latin typeface="Arial"/>
              </a:rPr>
              <a:t>services live on Cloud Run, redeployed by CI on every push</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1148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latin typeface="Google Sans Flex Medium"/>
                <a:ea typeface="Google Sans Flex Medium"/>
                <a:cs typeface="Google Sans Flex Medium"/>
                <a:sym typeface="Google Sans Flex Medium"/>
              </a:rPr>
              <a:t>Additional details / future development</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274320" y="1143000"/>
            <a:ext cx="4023360" cy="274320"/>
          </a:xfrm>
          <a:prstGeom prst="rect">
            <a:avLst/>
          </a:prstGeom>
          <a:noFill/>
        </p:spPr>
        <p:txBody>
          <a:bodyPr wrap="square" anchor="t" lIns="0" rIns="0" tIns="0" bIns="0">
            <a:spAutoFit/>
          </a:bodyPr>
          <a:lstStyle/>
          <a:p>
            <a:pPr algn="l"/>
            <a:r>
              <a:rPr sz="1300" b="1" i="0">
                <a:solidFill>
                  <a:srgbClr val="0B6E4F"/>
                </a:solidFill>
                <a:latin typeface="Arial"/>
              </a:rPr>
              <a:t>Already in place</a:t>
            </a:r>
          </a:p>
        </p:txBody>
      </p:sp>
      <p:sp>
        <p:nvSpPr>
          <p:cNvPr id="153" name="Rounded Rectangle 152"/>
          <p:cNvSpPr/>
          <p:nvPr/>
        </p:nvSpPr>
        <p:spPr>
          <a:xfrm>
            <a:off x="274320" y="1508760"/>
            <a:ext cx="4023360" cy="146304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402336" y="1636776"/>
            <a:ext cx="3767328" cy="274320"/>
          </a:xfrm>
          <a:prstGeom prst="rect">
            <a:avLst/>
          </a:prstGeom>
          <a:noFill/>
        </p:spPr>
        <p:txBody>
          <a:bodyPr wrap="square" anchor="t" lIns="0" rIns="0" tIns="0" bIns="0">
            <a:spAutoFit/>
          </a:bodyPr>
          <a:lstStyle/>
          <a:p>
            <a:pPr algn="l"/>
            <a:r>
              <a:rPr sz="1300" b="1" i="0">
                <a:solidFill>
                  <a:srgbClr val="14201F"/>
                </a:solidFill>
                <a:latin typeface="Arial"/>
              </a:rPr>
              <a:t>Honest by design</a:t>
            </a:r>
          </a:p>
        </p:txBody>
      </p:sp>
      <p:sp>
        <p:nvSpPr>
          <p:cNvPr id="155" name="TextBox 154"/>
          <p:cNvSpPr txBox="1"/>
          <p:nvPr/>
        </p:nvSpPr>
        <p:spPr>
          <a:xfrm>
            <a:off x="402336" y="1929384"/>
            <a:ext cx="3767328" cy="914400"/>
          </a:xfrm>
          <a:prstGeom prst="rect">
            <a:avLst/>
          </a:prstGeom>
          <a:noFill/>
        </p:spPr>
        <p:txBody>
          <a:bodyPr wrap="square" anchor="t" lIns="0" rIns="0" tIns="0" bIns="0">
            <a:spAutoFit/>
          </a:bodyPr>
          <a:lstStyle/>
          <a:p>
            <a:pPr algn="l">
              <a:spcAft>
                <a:spcPts val="300"/>
              </a:spcAft>
            </a:pPr>
            <a:r>
              <a:rPr sz="1100" b="0" i="0">
                <a:solidFill>
                  <a:srgbClr val="55625F"/>
                </a:solidFill>
                <a:latin typeface="Arial"/>
              </a:rPr>
              <a:t>The README separates what is live, offline and planned; negative results are reported.</a:t>
            </a:r>
          </a:p>
        </p:txBody>
      </p:sp>
      <p:sp>
        <p:nvSpPr>
          <p:cNvPr id="156" name="Rounded Rectangle 155"/>
          <p:cNvSpPr/>
          <p:nvPr/>
        </p:nvSpPr>
        <p:spPr>
          <a:xfrm>
            <a:off x="274320" y="3108960"/>
            <a:ext cx="4023360" cy="146304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402336" y="3236976"/>
            <a:ext cx="3767328" cy="274320"/>
          </a:xfrm>
          <a:prstGeom prst="rect">
            <a:avLst/>
          </a:prstGeom>
          <a:noFill/>
        </p:spPr>
        <p:txBody>
          <a:bodyPr wrap="square" anchor="t" lIns="0" rIns="0" tIns="0" bIns="0">
            <a:spAutoFit/>
          </a:bodyPr>
          <a:lstStyle/>
          <a:p>
            <a:pPr algn="l"/>
            <a:r>
              <a:rPr sz="1300" b="1" i="0">
                <a:solidFill>
                  <a:srgbClr val="14201F"/>
                </a:solidFill>
                <a:latin typeface="Arial"/>
              </a:rPr>
              <a:t>Responsible AI</a:t>
            </a:r>
          </a:p>
        </p:txBody>
      </p:sp>
      <p:sp>
        <p:nvSpPr>
          <p:cNvPr id="158" name="TextBox 157"/>
          <p:cNvSpPr txBox="1"/>
          <p:nvPr/>
        </p:nvSpPr>
        <p:spPr>
          <a:xfrm>
            <a:off x="402336" y="3529584"/>
            <a:ext cx="3767328" cy="914400"/>
          </a:xfrm>
          <a:prstGeom prst="rect">
            <a:avLst/>
          </a:prstGeom>
          <a:noFill/>
        </p:spPr>
        <p:txBody>
          <a:bodyPr wrap="square" anchor="t" lIns="0" rIns="0" tIns="0" bIns="0">
            <a:spAutoFit/>
          </a:bodyPr>
          <a:lstStyle/>
          <a:p>
            <a:pPr algn="l">
              <a:spcAft>
                <a:spcPts val="300"/>
              </a:spcAft>
            </a:pPr>
            <a:r>
              <a:rPr sz="1100" b="0" i="0">
                <a:solidFill>
                  <a:srgbClr val="55625F"/>
                </a:solidFill>
                <a:latin typeface="Arial"/>
              </a:rPr>
              <a:t>Policies decide, figures are grounded, privacy and advice checks run on every answer; family guardian alerts wait for the user's consent.</a:t>
            </a:r>
          </a:p>
        </p:txBody>
      </p:sp>
      <p:sp>
        <p:nvSpPr>
          <p:cNvPr id="159" name="TextBox 158"/>
          <p:cNvSpPr txBox="1"/>
          <p:nvPr/>
        </p:nvSpPr>
        <p:spPr>
          <a:xfrm>
            <a:off x="4572000" y="1143000"/>
            <a:ext cx="4297680" cy="274320"/>
          </a:xfrm>
          <a:prstGeom prst="rect">
            <a:avLst/>
          </a:prstGeom>
          <a:noFill/>
        </p:spPr>
        <p:txBody>
          <a:bodyPr wrap="square" anchor="t" lIns="0" rIns="0" tIns="0" bIns="0">
            <a:spAutoFit/>
          </a:bodyPr>
          <a:lstStyle/>
          <a:p>
            <a:pPr algn="l"/>
            <a:r>
              <a:rPr sz="1300" b="1" i="0">
                <a:solidFill>
                  <a:srgbClr val="14201F"/>
                </a:solidFill>
                <a:latin typeface="Arial"/>
              </a:rPr>
              <a:t>Next</a:t>
            </a:r>
          </a:p>
        </p:txBody>
      </p:sp>
      <p:sp>
        <p:nvSpPr>
          <p:cNvPr id="160" name="Rounded Rectangle 159"/>
          <p:cNvSpPr/>
          <p:nvPr/>
        </p:nvSpPr>
        <p:spPr>
          <a:xfrm>
            <a:off x="4572000" y="1508760"/>
            <a:ext cx="4297680" cy="5760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4681728" y="1563624"/>
            <a:ext cx="1600200" cy="475488"/>
          </a:xfrm>
          <a:prstGeom prst="rect">
            <a:avLst/>
          </a:prstGeom>
          <a:noFill/>
        </p:spPr>
        <p:txBody>
          <a:bodyPr wrap="square" anchor="ctr" lIns="0" rIns="0" tIns="0" bIns="0">
            <a:spAutoFit/>
          </a:bodyPr>
          <a:lstStyle/>
          <a:p>
            <a:pPr algn="l"/>
            <a:r>
              <a:rPr sz="1050" b="1" i="0">
                <a:solidFill>
                  <a:srgbClr val="14201F"/>
                </a:solidFill>
                <a:latin typeface="Arial"/>
              </a:rPr>
              <a:t>Serve TimesFM</a:t>
            </a:r>
          </a:p>
        </p:txBody>
      </p:sp>
      <p:sp>
        <p:nvSpPr>
          <p:cNvPr id="162" name="TextBox 161"/>
          <p:cNvSpPr txBox="1"/>
          <p:nvPr/>
        </p:nvSpPr>
        <p:spPr>
          <a:xfrm>
            <a:off x="6355080" y="1563624"/>
            <a:ext cx="2423160" cy="475488"/>
          </a:xfrm>
          <a:prstGeom prst="rect">
            <a:avLst/>
          </a:prstGeom>
          <a:noFill/>
        </p:spPr>
        <p:txBody>
          <a:bodyPr wrap="square" anchor="ctr" lIns="0" rIns="0" tIns="0" bIns="0">
            <a:spAutoFit/>
          </a:bodyPr>
          <a:lstStyle/>
          <a:p>
            <a:pPr algn="l"/>
            <a:r>
              <a:rPr sz="950" b="0" i="0">
                <a:solidFill>
                  <a:srgbClr val="55625F"/>
                </a:solidFill>
                <a:latin typeface="Arial"/>
              </a:rPr>
              <a:t>Bring the fine-tuned hybrid online behind the planner.</a:t>
            </a:r>
          </a:p>
        </p:txBody>
      </p:sp>
      <p:sp>
        <p:nvSpPr>
          <p:cNvPr id="163" name="Rounded Rectangle 162"/>
          <p:cNvSpPr/>
          <p:nvPr/>
        </p:nvSpPr>
        <p:spPr>
          <a:xfrm>
            <a:off x="4572000" y="2176272"/>
            <a:ext cx="4297680" cy="5760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4681728" y="2231136"/>
            <a:ext cx="1600200" cy="475488"/>
          </a:xfrm>
          <a:prstGeom prst="rect">
            <a:avLst/>
          </a:prstGeom>
          <a:noFill/>
        </p:spPr>
        <p:txBody>
          <a:bodyPr wrap="square" anchor="ctr" lIns="0" rIns="0" tIns="0" bIns="0">
            <a:spAutoFit/>
          </a:bodyPr>
          <a:lstStyle/>
          <a:p>
            <a:pPr algn="l"/>
            <a:r>
              <a:rPr sz="1050" b="1" i="0">
                <a:solidFill>
                  <a:srgbClr val="14201F"/>
                </a:solidFill>
                <a:latin typeface="Arial"/>
              </a:rPr>
              <a:t>Gemini on Vertex AI + ADK</a:t>
            </a:r>
          </a:p>
        </p:txBody>
      </p:sp>
      <p:sp>
        <p:nvSpPr>
          <p:cNvPr id="165" name="TextBox 164"/>
          <p:cNvSpPr txBox="1"/>
          <p:nvPr/>
        </p:nvSpPr>
        <p:spPr>
          <a:xfrm>
            <a:off x="6355080" y="2231136"/>
            <a:ext cx="2423160" cy="475488"/>
          </a:xfrm>
          <a:prstGeom prst="rect">
            <a:avLst/>
          </a:prstGeom>
          <a:noFill/>
        </p:spPr>
        <p:txBody>
          <a:bodyPr wrap="square" anchor="ctr" lIns="0" rIns="0" tIns="0" bIns="0">
            <a:spAutoFit/>
          </a:bodyPr>
          <a:lstStyle/>
          <a:p>
            <a:pPr algn="l"/>
            <a:r>
              <a:rPr sz="950" b="0" i="0">
                <a:solidFill>
                  <a:srgbClr val="55625F"/>
                </a:solidFill>
                <a:latin typeface="Arial"/>
              </a:rPr>
              <a:t>Move the agent to Agent Engine; Document AI for statements.</a:t>
            </a:r>
          </a:p>
        </p:txBody>
      </p:sp>
      <p:sp>
        <p:nvSpPr>
          <p:cNvPr id="166" name="Rounded Rectangle 165"/>
          <p:cNvSpPr/>
          <p:nvPr/>
        </p:nvSpPr>
        <p:spPr>
          <a:xfrm>
            <a:off x="4572000" y="2843784"/>
            <a:ext cx="4297680" cy="5760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4681728" y="2898648"/>
            <a:ext cx="1600200" cy="475488"/>
          </a:xfrm>
          <a:prstGeom prst="rect">
            <a:avLst/>
          </a:prstGeom>
          <a:noFill/>
        </p:spPr>
        <p:txBody>
          <a:bodyPr wrap="square" anchor="ctr" lIns="0" rIns="0" tIns="0" bIns="0">
            <a:spAutoFit/>
          </a:bodyPr>
          <a:lstStyle/>
          <a:p>
            <a:pPr algn="l"/>
            <a:r>
              <a:rPr sz="1050" b="1" i="0">
                <a:solidFill>
                  <a:srgbClr val="14201F"/>
                </a:solidFill>
                <a:latin typeface="Arial"/>
              </a:rPr>
              <a:t>Public chain</a:t>
            </a:r>
          </a:p>
        </p:txBody>
      </p:sp>
      <p:sp>
        <p:nvSpPr>
          <p:cNvPr id="168" name="TextBox 167"/>
          <p:cNvSpPr txBox="1"/>
          <p:nvPr/>
        </p:nvSpPr>
        <p:spPr>
          <a:xfrm>
            <a:off x="6355080" y="2898648"/>
            <a:ext cx="2423160" cy="475488"/>
          </a:xfrm>
          <a:prstGeom prst="rect">
            <a:avLst/>
          </a:prstGeom>
          <a:noFill/>
        </p:spPr>
        <p:txBody>
          <a:bodyPr wrap="square" anchor="ctr" lIns="0" rIns="0" tIns="0" bIns="0">
            <a:spAutoFit/>
          </a:bodyPr>
          <a:lstStyle/>
          <a:p>
            <a:pPr algn="l"/>
            <a:r>
              <a:rPr sz="950" b="0" i="0">
                <a:solidFill>
                  <a:srgbClr val="55625F"/>
                </a:solidFill>
                <a:latin typeface="Arial"/>
              </a:rPr>
              <a:t>Anchor on an Ethereum testnet via Blockchain Node Engine.</a:t>
            </a:r>
          </a:p>
        </p:txBody>
      </p:sp>
      <p:sp>
        <p:nvSpPr>
          <p:cNvPr id="169" name="Rounded Rectangle 168"/>
          <p:cNvSpPr/>
          <p:nvPr/>
        </p:nvSpPr>
        <p:spPr>
          <a:xfrm>
            <a:off x="4572000" y="3511296"/>
            <a:ext cx="4297680" cy="5760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4681728" y="3566160"/>
            <a:ext cx="1600200" cy="475488"/>
          </a:xfrm>
          <a:prstGeom prst="rect">
            <a:avLst/>
          </a:prstGeom>
          <a:noFill/>
        </p:spPr>
        <p:txBody>
          <a:bodyPr wrap="square" anchor="ctr" lIns="0" rIns="0" tIns="0" bIns="0">
            <a:spAutoFit/>
          </a:bodyPr>
          <a:lstStyle/>
          <a:p>
            <a:pPr algn="l"/>
            <a:r>
              <a:rPr sz="1050" b="1" i="0">
                <a:solidFill>
                  <a:srgbClr val="14201F"/>
                </a:solidFill>
                <a:latin typeface="Arial"/>
              </a:rPr>
              <a:t>WhatsApp bot</a:t>
            </a:r>
          </a:p>
        </p:txBody>
      </p:sp>
      <p:sp>
        <p:nvSpPr>
          <p:cNvPr id="171" name="TextBox 170"/>
          <p:cNvSpPr txBox="1"/>
          <p:nvPr/>
        </p:nvSpPr>
        <p:spPr>
          <a:xfrm>
            <a:off x="6355080" y="3566160"/>
            <a:ext cx="2423160" cy="475488"/>
          </a:xfrm>
          <a:prstGeom prst="rect">
            <a:avLst/>
          </a:prstGeom>
          <a:noFill/>
        </p:spPr>
        <p:txBody>
          <a:bodyPr wrap="square" anchor="ctr" lIns="0" rIns="0" tIns="0" bIns="0">
            <a:spAutoFit/>
          </a:bodyPr>
          <a:lstStyle/>
          <a:p>
            <a:pPr algn="l"/>
            <a:r>
              <a:rPr sz="950" b="0" i="0">
                <a:solidFill>
                  <a:srgbClr val="55625F"/>
                </a:solidFill>
                <a:latin typeface="Arial"/>
              </a:rPr>
              <a:t>Forward a message, get the verdict back in the same chat.</a:t>
            </a:r>
          </a:p>
        </p:txBody>
      </p:sp>
      <p:sp>
        <p:nvSpPr>
          <p:cNvPr id="172" name="Rounded Rectangle 171"/>
          <p:cNvSpPr/>
          <p:nvPr/>
        </p:nvSpPr>
        <p:spPr>
          <a:xfrm>
            <a:off x="4572000" y="4178808"/>
            <a:ext cx="4297680" cy="576072"/>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4681728" y="4233672"/>
            <a:ext cx="1600200" cy="475488"/>
          </a:xfrm>
          <a:prstGeom prst="rect">
            <a:avLst/>
          </a:prstGeom>
          <a:noFill/>
        </p:spPr>
        <p:txBody>
          <a:bodyPr wrap="square" anchor="ctr" lIns="0" rIns="0" tIns="0" bIns="0">
            <a:spAutoFit/>
          </a:bodyPr>
          <a:lstStyle/>
          <a:p>
            <a:pPr algn="l"/>
            <a:r>
              <a:rPr sz="1050" b="1" i="0">
                <a:solidFill>
                  <a:srgbClr val="14201F"/>
                </a:solidFill>
                <a:latin typeface="Arial"/>
              </a:rPr>
              <a:t>Fine-tuned Laya</a:t>
            </a:r>
          </a:p>
        </p:txBody>
      </p:sp>
      <p:sp>
        <p:nvSpPr>
          <p:cNvPr id="174" name="TextBox 173"/>
          <p:cNvSpPr txBox="1"/>
          <p:nvPr/>
        </p:nvSpPr>
        <p:spPr>
          <a:xfrm>
            <a:off x="6355080" y="4233672"/>
            <a:ext cx="2423160" cy="475488"/>
          </a:xfrm>
          <a:prstGeom prst="rect">
            <a:avLst/>
          </a:prstGeom>
          <a:noFill/>
        </p:spPr>
        <p:txBody>
          <a:bodyPr wrap="square" anchor="ctr" lIns="0" rIns="0" tIns="0" bIns="0">
            <a:spAutoFit/>
          </a:bodyPr>
          <a:lstStyle/>
          <a:p>
            <a:pPr algn="l"/>
            <a:r>
              <a:rPr sz="950" b="0" i="0">
                <a:solidFill>
                  <a:srgbClr val="55625F"/>
                </a:solidFill>
                <a:latin typeface="Arial"/>
              </a:rPr>
              <a:t>Fast on-device checks distilled from Gemini, validated per language.</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46304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  </a:t>
            </a:r>
            <a:r>
              <a:rPr sz="1200">
                <a:solidFill>
                  <a:srgbClr val="0B6E4F"/>
                </a:solidFill>
                <a:latin typeface="Arial"/>
                <a:hlinkClick r:id="rId5"/>
              </a:rPr>
              <a:t>https://github.com/Adagard-Trios/AI-Buildathon-2026</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  </a:t>
            </a:r>
            <a:r>
              <a:rPr sz="1200">
                <a:solidFill>
                  <a:srgbClr val="B42318"/>
                </a:solidFill>
                <a:latin typeface="Arial"/>
              </a:rPr>
              <a:t>ADD THE VIDEO LINK</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  </a:t>
            </a:r>
            <a:r>
              <a:rPr sz="1200">
                <a:solidFill>
                  <a:srgbClr val="0B6E4F"/>
                </a:solidFill>
                <a:latin typeface="Arial"/>
                <a:hlinkClick r:id="rId6"/>
              </a:rPr>
              <a:t>https://firststep-web-214625202650.us-central1.run.app</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274320" y="2423160"/>
            <a:ext cx="8595360" cy="2011680"/>
          </a:xfrm>
          <a:prstGeom prst="roundRect">
            <a:avLst>
              <a:gd name="adj" fmla="val 12000"/>
            </a:avLst>
          </a:prstGeom>
          <a:solidFill>
            <a:srgbClr val="E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457200" y="2560320"/>
            <a:ext cx="8229600" cy="1783080"/>
          </a:xfrm>
          <a:prstGeom prst="rect">
            <a:avLst/>
          </a:prstGeom>
          <a:noFill/>
        </p:spPr>
        <p:txBody>
          <a:bodyPr wrap="square" anchor="t" lIns="0" rIns="0" tIns="0" bIns="0">
            <a:spAutoFit/>
          </a:bodyPr>
          <a:lstStyle/>
          <a:p>
            <a:pPr algn="l">
              <a:spcAft>
                <a:spcPts val="500"/>
              </a:spcAft>
            </a:pPr>
            <a:r>
              <a:rPr sz="1400" b="1" i="0">
                <a:solidFill>
                  <a:srgbClr val="0B6E4F"/>
                </a:solidFill>
                <a:latin typeface="Arial"/>
              </a:rPr>
              <a:t>Try it</a:t>
            </a:r>
          </a:p>
          <a:p>
            <a:pPr algn="l">
              <a:spcAft>
                <a:spcPts val="500"/>
              </a:spcAft>
            </a:pPr>
            <a:r>
              <a:rPr sz="1150" b="0" i="0">
                <a:solidFill>
                  <a:srgbClr val="14201F"/>
                </a:solidFill>
                <a:latin typeface="Arial"/>
              </a:rPr>
              <a:t>Register any email: every account starts with a demo portfolio of CSE, US and crypto holdings.</a:t>
            </a:r>
          </a:p>
          <a:p>
            <a:pPr algn="l">
              <a:spcAft>
                <a:spcPts val="500"/>
              </a:spcAft>
            </a:pPr>
            <a:r>
              <a:rPr sz="1150" b="0" i="0">
                <a:solidFill>
                  <a:srgbClr val="14201F"/>
                </a:solidFill>
                <a:latin typeface="Arial"/>
              </a:rPr>
              <a:t>Fraud → Scam Shield: paste an investment offer and see the verdict, reasons and scam patterns.</a:t>
            </a:r>
          </a:p>
          <a:p>
            <a:pPr algn="l">
              <a:spcAft>
                <a:spcPts val="500"/>
              </a:spcAft>
            </a:pPr>
            <a:r>
              <a:rPr sz="1150" b="0" i="0">
                <a:solidFill>
                  <a:srgbClr val="14201F"/>
                </a:solidFill>
                <a:latin typeface="Arial"/>
              </a:rPr>
              <a:t>Fraud → Check a transfer: tick New beneficiary, amount 30,000 → STEP-UP → enter the code.</a:t>
            </a:r>
          </a:p>
          <a:p>
            <a:pPr algn="l">
              <a:spcAft>
                <a:spcPts val="500"/>
              </a:spcAft>
            </a:pPr>
            <a:r>
              <a:rPr sz="1150" b="0" i="0">
                <a:solidFill>
                  <a:srgbClr val="14201F"/>
                </a:solidFill>
                <a:latin typeface="Arial"/>
              </a:rPr>
              <a:t>Audit → Tamper-evidence: anchor, verify, tamper, verify again.</a:t>
            </a:r>
          </a:p>
          <a:p>
            <a:pPr algn="l">
              <a:spcAft>
                <a:spcPts val="500"/>
              </a:spcAft>
            </a:pPr>
            <a:r>
              <a:rPr sz="1000" b="0" i="0">
                <a:solidFill>
                  <a:srgbClr val="55625F"/>
                </a:solidFill>
                <a:latin typeface="Arial"/>
              </a:rPr>
              <a:t>Services scale to zero to keep cost near nothing: the first click on a quiet service takes ~15 s.</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TextBox 166"/>
          <p:cNvSpPr txBox="1"/>
          <p:nvPr/>
        </p:nvSpPr>
        <p:spPr>
          <a:xfrm>
            <a:off x="356616" y="713232"/>
            <a:ext cx="8503920" cy="411480"/>
          </a:xfrm>
          <a:prstGeom prst="rect">
            <a:avLst/>
          </a:prstGeom>
          <a:noFill/>
        </p:spPr>
        <p:txBody>
          <a:bodyPr wrap="square" anchor="t" lIns="0" rIns="0" tIns="0" bIns="0">
            <a:spAutoFit/>
          </a:bodyPr>
          <a:lstStyle/>
          <a:p>
            <a:pPr algn="l"/>
            <a:r>
              <a:rPr sz="1800" b="0" i="0">
                <a:solidFill>
                  <a:srgbClr val="000000"/>
                </a:solidFill>
                <a:latin typeface="Google Sans Flex Medium"/>
              </a:rPr>
              <a:t>Built to be trusted</a:t>
            </a:r>
          </a:p>
        </p:txBody>
      </p:sp>
      <p:sp>
        <p:nvSpPr>
          <p:cNvPr id="168" name="Rounded Rectangle 167"/>
          <p:cNvSpPr/>
          <p:nvPr/>
        </p:nvSpPr>
        <p:spPr>
          <a:xfrm>
            <a:off x="274320" y="118872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Oval 168"/>
          <p:cNvSpPr/>
          <p:nvPr/>
        </p:nvSpPr>
        <p:spPr>
          <a:xfrm>
            <a:off x="402336" y="131673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402336" y="1316736"/>
            <a:ext cx="310896" cy="310896"/>
          </a:xfrm>
          <a:prstGeom prst="rect">
            <a:avLst/>
          </a:prstGeom>
          <a:noFill/>
        </p:spPr>
        <p:txBody>
          <a:bodyPr wrap="square" anchor="ctr" lIns="0" rIns="0" tIns="0" bIns="0">
            <a:spAutoFit/>
          </a:bodyPr>
          <a:lstStyle/>
          <a:p>
            <a:pPr algn="ctr"/>
            <a:r>
              <a:rPr sz="1100" b="1" i="0">
                <a:solidFill>
                  <a:srgbClr val="FFFFFF"/>
                </a:solidFill>
                <a:latin typeface="Arial"/>
              </a:rPr>
              <a:t>1</a:t>
            </a:r>
          </a:p>
        </p:txBody>
      </p:sp>
      <p:sp>
        <p:nvSpPr>
          <p:cNvPr id="171" name="TextBox 170"/>
          <p:cNvSpPr txBox="1"/>
          <p:nvPr/>
        </p:nvSpPr>
        <p:spPr>
          <a:xfrm>
            <a:off x="804672" y="1316736"/>
            <a:ext cx="2084831" cy="310896"/>
          </a:xfrm>
          <a:prstGeom prst="rect">
            <a:avLst/>
          </a:prstGeom>
          <a:noFill/>
        </p:spPr>
        <p:txBody>
          <a:bodyPr wrap="square" anchor="ctr" lIns="0" rIns="0" tIns="0" bIns="0">
            <a:spAutoFit/>
          </a:bodyPr>
          <a:lstStyle/>
          <a:p>
            <a:pPr algn="l"/>
            <a:r>
              <a:rPr sz="1300" b="1" i="0">
                <a:solidFill>
                  <a:srgbClr val="14201F"/>
                </a:solidFill>
                <a:latin typeface="Arial"/>
              </a:rPr>
              <a:t>Verify every request</a:t>
            </a:r>
          </a:p>
        </p:txBody>
      </p:sp>
      <p:sp>
        <p:nvSpPr>
          <p:cNvPr id="172" name="TextBox 171"/>
          <p:cNvSpPr txBox="1"/>
          <p:nvPr/>
        </p:nvSpPr>
        <p:spPr>
          <a:xfrm>
            <a:off x="402336" y="1719072"/>
            <a:ext cx="2487168" cy="896112"/>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Each service checks RS256 tokens against the platform's JWKS; no token means 401, wrong audience or role 403.</a:t>
            </a:r>
          </a:p>
        </p:txBody>
      </p:sp>
      <p:sp>
        <p:nvSpPr>
          <p:cNvPr id="173" name="Rounded Rectangle 172"/>
          <p:cNvSpPr/>
          <p:nvPr/>
        </p:nvSpPr>
        <p:spPr>
          <a:xfrm>
            <a:off x="3163824" y="118872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3291840" y="131673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Box 174"/>
          <p:cNvSpPr txBox="1"/>
          <p:nvPr/>
        </p:nvSpPr>
        <p:spPr>
          <a:xfrm>
            <a:off x="3291840" y="1316736"/>
            <a:ext cx="310896" cy="310896"/>
          </a:xfrm>
          <a:prstGeom prst="rect">
            <a:avLst/>
          </a:prstGeom>
          <a:noFill/>
        </p:spPr>
        <p:txBody>
          <a:bodyPr wrap="square" anchor="ctr" lIns="0" rIns="0" tIns="0" bIns="0">
            <a:spAutoFit/>
          </a:bodyPr>
          <a:lstStyle/>
          <a:p>
            <a:pPr algn="ctr"/>
            <a:r>
              <a:rPr sz="1100" b="1" i="0">
                <a:solidFill>
                  <a:srgbClr val="FFFFFF"/>
                </a:solidFill>
                <a:latin typeface="Arial"/>
              </a:rPr>
              <a:t>2</a:t>
            </a:r>
          </a:p>
        </p:txBody>
      </p:sp>
      <p:sp>
        <p:nvSpPr>
          <p:cNvPr id="176" name="TextBox 175"/>
          <p:cNvSpPr txBox="1"/>
          <p:nvPr/>
        </p:nvSpPr>
        <p:spPr>
          <a:xfrm>
            <a:off x="3694176" y="1316736"/>
            <a:ext cx="2084831" cy="310896"/>
          </a:xfrm>
          <a:prstGeom prst="rect">
            <a:avLst/>
          </a:prstGeom>
          <a:noFill/>
        </p:spPr>
        <p:txBody>
          <a:bodyPr wrap="square" anchor="ctr" lIns="0" rIns="0" tIns="0" bIns="0">
            <a:spAutoFit/>
          </a:bodyPr>
          <a:lstStyle/>
          <a:p>
            <a:pPr algn="l"/>
            <a:r>
              <a:rPr sz="1300" b="1" i="0">
                <a:solidFill>
                  <a:srgbClr val="14201F"/>
                </a:solidFill>
                <a:latin typeface="Arial"/>
              </a:rPr>
              <a:t>Least privilege</a:t>
            </a:r>
          </a:p>
        </p:txBody>
      </p:sp>
      <p:sp>
        <p:nvSpPr>
          <p:cNvPr id="177" name="TextBox 176"/>
          <p:cNvSpPr txBox="1"/>
          <p:nvPr/>
        </p:nvSpPr>
        <p:spPr>
          <a:xfrm>
            <a:off x="3291840" y="1719072"/>
            <a:ext cx="2487168" cy="896112"/>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Roles come from deployment config only; staff addresses cannot be self-registered.</a:t>
            </a:r>
          </a:p>
        </p:txBody>
      </p:sp>
      <p:sp>
        <p:nvSpPr>
          <p:cNvPr id="178" name="Rounded Rectangle 177"/>
          <p:cNvSpPr/>
          <p:nvPr/>
        </p:nvSpPr>
        <p:spPr>
          <a:xfrm>
            <a:off x="6053328" y="118872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6181344" y="131673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6181344" y="1316736"/>
            <a:ext cx="310896" cy="310896"/>
          </a:xfrm>
          <a:prstGeom prst="rect">
            <a:avLst/>
          </a:prstGeom>
          <a:noFill/>
        </p:spPr>
        <p:txBody>
          <a:bodyPr wrap="square" anchor="ctr" lIns="0" rIns="0" tIns="0" bIns="0">
            <a:spAutoFit/>
          </a:bodyPr>
          <a:lstStyle/>
          <a:p>
            <a:pPr algn="ctr"/>
            <a:r>
              <a:rPr sz="1100" b="1" i="0">
                <a:solidFill>
                  <a:srgbClr val="FFFFFF"/>
                </a:solidFill>
                <a:latin typeface="Arial"/>
              </a:rPr>
              <a:t>3</a:t>
            </a:r>
          </a:p>
        </p:txBody>
      </p:sp>
      <p:sp>
        <p:nvSpPr>
          <p:cNvPr id="181" name="TextBox 180"/>
          <p:cNvSpPr txBox="1"/>
          <p:nvPr/>
        </p:nvSpPr>
        <p:spPr>
          <a:xfrm>
            <a:off x="6583680" y="1316736"/>
            <a:ext cx="2084831" cy="310896"/>
          </a:xfrm>
          <a:prstGeom prst="rect">
            <a:avLst/>
          </a:prstGeom>
          <a:noFill/>
        </p:spPr>
        <p:txBody>
          <a:bodyPr wrap="square" anchor="ctr" lIns="0" rIns="0" tIns="0" bIns="0">
            <a:spAutoFit/>
          </a:bodyPr>
          <a:lstStyle/>
          <a:p>
            <a:pPr algn="l"/>
            <a:r>
              <a:rPr sz="1300" b="1" i="0">
                <a:solidFill>
                  <a:srgbClr val="14201F"/>
                </a:solidFill>
                <a:latin typeface="Arial"/>
              </a:rPr>
              <a:t>Your data only</a:t>
            </a:r>
          </a:p>
        </p:txBody>
      </p:sp>
      <p:sp>
        <p:nvSpPr>
          <p:cNvPr id="182" name="TextBox 181"/>
          <p:cNvSpPr txBox="1"/>
          <p:nvPr/>
        </p:nvSpPr>
        <p:spPr>
          <a:xfrm>
            <a:off x="6181344" y="1719072"/>
            <a:ext cx="2487168" cy="896112"/>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Row-level reads: customers see only their own records; auditors read all, alter nothing.</a:t>
            </a:r>
          </a:p>
        </p:txBody>
      </p:sp>
      <p:sp>
        <p:nvSpPr>
          <p:cNvPr id="183" name="Rounded Rectangle 182"/>
          <p:cNvSpPr/>
          <p:nvPr/>
        </p:nvSpPr>
        <p:spPr>
          <a:xfrm>
            <a:off x="274320" y="288036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402336" y="300837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TextBox 184"/>
          <p:cNvSpPr txBox="1"/>
          <p:nvPr/>
        </p:nvSpPr>
        <p:spPr>
          <a:xfrm>
            <a:off x="402336" y="3008376"/>
            <a:ext cx="310896" cy="310896"/>
          </a:xfrm>
          <a:prstGeom prst="rect">
            <a:avLst/>
          </a:prstGeom>
          <a:noFill/>
        </p:spPr>
        <p:txBody>
          <a:bodyPr wrap="square" anchor="ctr" lIns="0" rIns="0" tIns="0" bIns="0">
            <a:spAutoFit/>
          </a:bodyPr>
          <a:lstStyle/>
          <a:p>
            <a:pPr algn="ctr"/>
            <a:r>
              <a:rPr sz="1100" b="1" i="0">
                <a:solidFill>
                  <a:srgbClr val="FFFFFF"/>
                </a:solidFill>
                <a:latin typeface="Arial"/>
              </a:rPr>
              <a:t>4</a:t>
            </a:r>
          </a:p>
        </p:txBody>
      </p:sp>
      <p:sp>
        <p:nvSpPr>
          <p:cNvPr id="186" name="TextBox 185"/>
          <p:cNvSpPr txBox="1"/>
          <p:nvPr/>
        </p:nvSpPr>
        <p:spPr>
          <a:xfrm>
            <a:off x="804672" y="3008376"/>
            <a:ext cx="2084831" cy="310896"/>
          </a:xfrm>
          <a:prstGeom prst="rect">
            <a:avLst/>
          </a:prstGeom>
          <a:noFill/>
        </p:spPr>
        <p:txBody>
          <a:bodyPr wrap="square" anchor="ctr" lIns="0" rIns="0" tIns="0" bIns="0">
            <a:spAutoFit/>
          </a:bodyPr>
          <a:lstStyle/>
          <a:p>
            <a:pPr algn="l"/>
            <a:r>
              <a:rPr sz="1300" b="1" i="0">
                <a:solidFill>
                  <a:srgbClr val="14201F"/>
                </a:solidFill>
                <a:latin typeface="Arial"/>
              </a:rPr>
              <a:t>Fresh proof for risk</a:t>
            </a:r>
          </a:p>
        </p:txBody>
      </p:sp>
      <p:sp>
        <p:nvSpPr>
          <p:cNvPr id="187" name="TextBox 186"/>
          <p:cNvSpPr txBox="1"/>
          <p:nvPr/>
        </p:nvSpPr>
        <p:spPr>
          <a:xfrm>
            <a:off x="402336" y="3410712"/>
            <a:ext cx="2487168" cy="896111"/>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STEP-UP one-time codes on risky transfers, even inside a valid session.</a:t>
            </a:r>
          </a:p>
        </p:txBody>
      </p:sp>
      <p:sp>
        <p:nvSpPr>
          <p:cNvPr id="188" name="Rounded Rectangle 187"/>
          <p:cNvSpPr/>
          <p:nvPr/>
        </p:nvSpPr>
        <p:spPr>
          <a:xfrm>
            <a:off x="3163824" y="288036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3291840" y="300837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3291840" y="3008376"/>
            <a:ext cx="310896" cy="310896"/>
          </a:xfrm>
          <a:prstGeom prst="rect">
            <a:avLst/>
          </a:prstGeom>
          <a:noFill/>
        </p:spPr>
        <p:txBody>
          <a:bodyPr wrap="square" anchor="ctr" lIns="0" rIns="0" tIns="0" bIns="0">
            <a:spAutoFit/>
          </a:bodyPr>
          <a:lstStyle/>
          <a:p>
            <a:pPr algn="ctr"/>
            <a:r>
              <a:rPr sz="1100" b="1" i="0">
                <a:solidFill>
                  <a:srgbClr val="FFFFFF"/>
                </a:solidFill>
                <a:latin typeface="Arial"/>
              </a:rPr>
              <a:t>5</a:t>
            </a:r>
          </a:p>
        </p:txBody>
      </p:sp>
      <p:sp>
        <p:nvSpPr>
          <p:cNvPr id="191" name="TextBox 190"/>
          <p:cNvSpPr txBox="1"/>
          <p:nvPr/>
        </p:nvSpPr>
        <p:spPr>
          <a:xfrm>
            <a:off x="3694176" y="3008376"/>
            <a:ext cx="2084831" cy="310896"/>
          </a:xfrm>
          <a:prstGeom prst="rect">
            <a:avLst/>
          </a:prstGeom>
          <a:noFill/>
        </p:spPr>
        <p:txBody>
          <a:bodyPr wrap="square" anchor="ctr" lIns="0" rIns="0" tIns="0" bIns="0">
            <a:spAutoFit/>
          </a:bodyPr>
          <a:lstStyle/>
          <a:p>
            <a:pPr algn="l"/>
            <a:r>
              <a:rPr sz="1300" b="1" i="0">
                <a:solidFill>
                  <a:srgbClr val="14201F"/>
                </a:solidFill>
                <a:latin typeface="Arial"/>
              </a:rPr>
              <a:t>Fail closed</a:t>
            </a:r>
          </a:p>
        </p:txBody>
      </p:sp>
      <p:sp>
        <p:nvSpPr>
          <p:cNvPr id="192" name="TextBox 191"/>
          <p:cNvSpPr txBox="1"/>
          <p:nvPr/>
        </p:nvSpPr>
        <p:spPr>
          <a:xfrm>
            <a:off x="3291840" y="3410712"/>
            <a:ext cx="2487168" cy="896111"/>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Misconfiguration refuses instead of allowing; denials are sealed in the audit trail.</a:t>
            </a:r>
          </a:p>
        </p:txBody>
      </p:sp>
      <p:sp>
        <p:nvSpPr>
          <p:cNvPr id="193" name="Rounded Rectangle 192"/>
          <p:cNvSpPr/>
          <p:nvPr/>
        </p:nvSpPr>
        <p:spPr>
          <a:xfrm>
            <a:off x="6053328" y="2880360"/>
            <a:ext cx="2743200" cy="1554480"/>
          </a:xfrm>
          <a:prstGeom prst="roundRect">
            <a:avLst>
              <a:gd name="adj" fmla="val 12000"/>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Oval 193"/>
          <p:cNvSpPr/>
          <p:nvPr/>
        </p:nvSpPr>
        <p:spPr>
          <a:xfrm>
            <a:off x="6181344" y="3008376"/>
            <a:ext cx="310896" cy="310896"/>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6181344" y="3008376"/>
            <a:ext cx="310896" cy="310896"/>
          </a:xfrm>
          <a:prstGeom prst="rect">
            <a:avLst/>
          </a:prstGeom>
          <a:noFill/>
        </p:spPr>
        <p:txBody>
          <a:bodyPr wrap="square" anchor="ctr" lIns="0" rIns="0" tIns="0" bIns="0">
            <a:spAutoFit/>
          </a:bodyPr>
          <a:lstStyle/>
          <a:p>
            <a:pPr algn="ctr"/>
            <a:r>
              <a:rPr sz="1100" b="1" i="0">
                <a:solidFill>
                  <a:srgbClr val="FFFFFF"/>
                </a:solidFill>
                <a:latin typeface="Arial"/>
              </a:rPr>
              <a:t>6</a:t>
            </a:r>
          </a:p>
        </p:txBody>
      </p:sp>
      <p:sp>
        <p:nvSpPr>
          <p:cNvPr id="196" name="TextBox 195"/>
          <p:cNvSpPr txBox="1"/>
          <p:nvPr/>
        </p:nvSpPr>
        <p:spPr>
          <a:xfrm>
            <a:off x="6583680" y="3008376"/>
            <a:ext cx="2084831" cy="310896"/>
          </a:xfrm>
          <a:prstGeom prst="rect">
            <a:avLst/>
          </a:prstGeom>
          <a:noFill/>
        </p:spPr>
        <p:txBody>
          <a:bodyPr wrap="square" anchor="ctr" lIns="0" rIns="0" tIns="0" bIns="0">
            <a:spAutoFit/>
          </a:bodyPr>
          <a:lstStyle/>
          <a:p>
            <a:pPr algn="l"/>
            <a:r>
              <a:rPr sz="1300" b="1" i="0">
                <a:solidFill>
                  <a:srgbClr val="14201F"/>
                </a:solidFill>
                <a:latin typeface="Arial"/>
              </a:rPr>
              <a:t>No invented numbers</a:t>
            </a:r>
          </a:p>
        </p:txBody>
      </p:sp>
      <p:sp>
        <p:nvSpPr>
          <p:cNvPr id="197" name="TextBox 196"/>
          <p:cNvSpPr txBox="1"/>
          <p:nvPr/>
        </p:nvSpPr>
        <p:spPr>
          <a:xfrm>
            <a:off x="6181344" y="3410712"/>
            <a:ext cx="2487168" cy="896111"/>
          </a:xfrm>
          <a:prstGeom prst="rect">
            <a:avLst/>
          </a:prstGeom>
          <a:noFill/>
        </p:spPr>
        <p:txBody>
          <a:bodyPr wrap="square" anchor="t" lIns="0" rIns="0" tIns="0" bIns="0">
            <a:spAutoFit/>
          </a:bodyPr>
          <a:lstStyle/>
          <a:p>
            <a:pPr algn="l">
              <a:spcAft>
                <a:spcPts val="300"/>
              </a:spcAft>
            </a:pPr>
            <a:r>
              <a:rPr sz="1050" b="0" i="0">
                <a:solidFill>
                  <a:srgbClr val="55625F"/>
                </a:solidFill>
                <a:latin typeface="Arial"/>
              </a:rPr>
              <a:t>An answer with a figure no tool produced is withheld.</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