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latin typeface="Arial"/>
              </a:rPr>
              <a:t>Scam Shield: scams caught, 40 labelled messages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Scams caught (recall)</c:v>
                </c:pt>
              </c:strCache>
            </c:strRef>
          </c:tx>
          <c:dPt>
            <c:idx val="0"/>
            <c:spPr>
              <a:solidFill>
                <a:srgbClr val="55625F"/>
              </a:solidFill>
            </c:spPr>
          </c:dPt>
          <c:dPt>
            <c:idx val="1"/>
            <c:spPr>
              <a:solidFill>
                <a:srgbClr val="0B6E4F"/>
              </a:solidFill>
            </c:spPr>
          </c:dPt>
          <c:cat>
            <c:strRef>
              <c:f>Sheet1!$A$2:$A$3</c:f>
              <c:strCache>
                <c:ptCount val="2"/>
                <c:pt idx="0">
                  <c:v>Rules only</c:v>
                </c:pt>
                <c:pt idx="1">
                  <c:v>Gemini + rules (live)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</c:v>
                </c:pt>
                <c:pt idx="1">
                  <c:v>1.0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FirstStep: an AI copilot for first-time investors in Sri Lanka, built on Gemini and Google Cloud.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Sources: UK PSR APP reimbursement (7 Oct 2024); Singapore MAS/IMDA Shared Responsibility Framework (16 Dec 2024); Newsfirst 2 Jun 2026 (CBSL 'Be Scam Proof'); UNODC 2025; GASA 2025.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Adagard-Trios/AI-Buildathon-2026" TargetMode="External"/><Relationship Id="rId6" Type="http://schemas.openxmlformats.org/officeDocument/2006/relationships/hyperlink" Target="https://firststep-web-214625202650.us-central1.run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1">
                <a:solidFill>
                  <a:srgbClr val="0B6E4F"/>
                </a:solidFill>
                <a:latin typeface="Arial"/>
              </a:rPr>
              <a:t>Adagard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1">
                <a:solidFill>
                  <a:srgbClr val="0B6E4F"/>
                </a:solidFill>
                <a:latin typeface="Arial"/>
              </a:rPr>
              <a:t>Nivakaran Shanmugabavan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800" b="1">
                <a:solidFill>
                  <a:srgbClr val="0B6E4F"/>
                </a:solidFill>
                <a:latin typeface="Arial"/>
              </a:rPr>
              <a:t>Challenge 1 (BFSI) · Stopping the payment a scam victim approves (APP fraud)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Idea"/>
          <p:cNvSpPr txBox="1"/>
          <p:nvPr/>
        </p:nvSpPr>
        <p:spPr>
          <a:xfrm>
            <a:off x="274320" y="1115568"/>
            <a:ext cx="8595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6E4F"/>
                </a:solidFill>
                <a:latin typeface="Arial"/>
              </a:rPr>
              <a:t>FirstStep is the last checkpoint before the money leaves. </a:t>
            </a:r>
            <a:r>
              <a:rPr sz="1300" b="0" i="0">
                <a:solidFill>
                  <a:srgbClr val="14201F"/>
                </a:solidFill>
                <a:latin typeface="Arial"/>
              </a:rPr>
              <a:t>It catches the scam at the moment of payment, explains it to the customer in Sinhala, Tamil or English, and gives the bank and regulator a record that can't be quietly changed.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1847088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625F"/>
                </a:solidFill>
                <a:latin typeface="Arial"/>
              </a:rPr>
              <a:t>In an authorised push payment scam the customer passes every check herself: right login, right OTP, her own decision to pay. Regulators are moving that loss onto banks.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230428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11479" y="2359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6E4F"/>
                </a:solidFill>
                <a:latin typeface="Arial"/>
              </a:rPr>
              <a:t>Oct 2024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79" y="27249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UK: mandatory reimbursement of APP scam losses, up to GBP 85,000 per claim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163824" y="230428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300984" y="2359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6E4F"/>
                </a:solidFill>
                <a:latin typeface="Arial"/>
              </a:rPr>
              <a:t>Dec 2024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00984" y="27249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Singapore: Shared Responsibility Framework puts duties on banks and telcos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53328" y="230428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190488" y="2359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6E4F"/>
                </a:solidFill>
                <a:latin typeface="Arial"/>
              </a:rPr>
              <a:t>Jun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90488" y="27249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Sri Lanka: CBSL makes “Be Scam Proof” its consumer-protection theme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4320" y="338328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402336" y="351129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402336" y="35112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" y="3511296"/>
            <a:ext cx="1353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Pay a new payee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2336" y="3913632"/>
            <a:ext cx="1755648" cy="621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Kamala starts a Rs 30,000 transfer; the gateway asks for fresh proof</a:t>
            </a:r>
          </a:p>
        </p:txBody>
      </p:sp>
      <p:sp>
        <p:nvSpPr>
          <p:cNvPr id="88" name="Chevron 87"/>
          <p:cNvSpPr/>
          <p:nvPr/>
        </p:nvSpPr>
        <p:spPr>
          <a:xfrm>
            <a:off x="2267712" y="3931920"/>
            <a:ext cx="164592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441448" y="338328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2569464" y="351129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2569464" y="35112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71800" y="3511296"/>
            <a:ext cx="1353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Check the offer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69464" y="3913632"/>
            <a:ext cx="1755648" cy="621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The WhatsApp message gets a STOP verdict, and why</a:t>
            </a:r>
          </a:p>
        </p:txBody>
      </p:sp>
      <p:sp>
        <p:nvSpPr>
          <p:cNvPr id="94" name="Chevron 93"/>
          <p:cNvSpPr/>
          <p:nvPr/>
        </p:nvSpPr>
        <p:spPr>
          <a:xfrm>
            <a:off x="4434840" y="3931920"/>
            <a:ext cx="164592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608576" y="338328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4736592" y="351129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4736592" y="35112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38928" y="3511296"/>
            <a:ext cx="1353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Explained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36592" y="3913632"/>
            <a:ext cx="1755648" cy="621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In Sinhala, with every figure checked against the tools</a:t>
            </a:r>
          </a:p>
        </p:txBody>
      </p:sp>
      <p:sp>
        <p:nvSpPr>
          <p:cNvPr id="100" name="Chevron 99"/>
          <p:cNvSpPr/>
          <p:nvPr/>
        </p:nvSpPr>
        <p:spPr>
          <a:xfrm>
            <a:off x="6601968" y="3931920"/>
            <a:ext cx="164592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775704" y="338328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6903720" y="351129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903720" y="35112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06056" y="3511296"/>
            <a:ext cx="1353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Sealed record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03720" y="3913632"/>
            <a:ext cx="1755648" cy="621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Evidence for disputes, reimbursement and the regulator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Also: USD 88–114 bn lost to online scams across Asia-Pacific in 2025 (UNODC); only 22% of victims recover anything (GASA).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274320" y="118872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438912" y="1325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01F"/>
                </a:solidFill>
                <a:latin typeface="Arial"/>
              </a:rPr>
              <a:t>Why not existing apps?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8912" y="1737360"/>
            <a:ext cx="24231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Google Messages and ScamShield protect the phone and need the victim to doubt the offer; many victims never check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FirstStep protects the payment: it acts at the transfer, on any phone, whatever the channel (WhatsApp, calls)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A bank-side control, so it fits Singapore's and the UK's duties on banks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163824" y="118872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328416" y="1325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01F"/>
                </a:solidFill>
                <a:latin typeface="Arial"/>
              </a:rPr>
              <a:t>How it solves the problem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8416" y="1737360"/>
            <a:ext cx="24231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Step-up on a new payee, the moment regulators single out as high risk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Plain-language reasons in the customer's language, where generic English warnings fail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Policy decides, Gemini reads: the bank can tell a regulator exactly why a payment was stopped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A sealed, verifiable record for disputes and reimbursement claims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53328" y="118872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217920" y="1325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6E4F"/>
                </a:solidFill>
                <a:latin typeface="Arial"/>
              </a:rPr>
              <a:t>USP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0" y="1737360"/>
            <a:ext cx="24231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Protects the payment, not just the phone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Live and tested on Cloud Run, not a slide: 11/11 end-to-end checks</a:t>
            </a:r>
          </a:p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0B6E4F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1F"/>
                </a:solidFill>
                <a:latin typeface="Arial"/>
              </a:rPr>
              <a:t>Built for Sri Lanka: Sinhala, Tamil, LKR, CSE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74320" y="11887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02336" y="131673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402336" y="1316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672" y="131673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Payment checkpoint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2336" y="1719072"/>
            <a:ext cx="24871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Every transfer is scored by the gateway; a new payee or unusual behaviour triggers a one-time-code step-up before money leaves.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163824" y="11887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3291840" y="131673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291840" y="1316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94176" y="131673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Scam Shield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91840" y="1719072"/>
            <a:ext cx="24871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Paste a WhatsApp, SMS or email offer. Gemini reads the red flags, policy SHIELD-P001 decides: a STOP / CHECK / CLEAR stamp with what to do next.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053328" y="11887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6181344" y="131673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6181344" y="1316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131673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Explained in her language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81344" y="1719072"/>
            <a:ext cx="24871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Ask why, by text or voice, in Sinhala, Tamil or English. Gemini answers from the platform's tools; any unchecked figure is withheld.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74320" y="288036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402336" y="300837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402336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672" y="300837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Sealed evidence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2336" y="3410712"/>
            <a:ext cx="2487168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Each decision is hashed with its model and policy and anchored in a contract; change one field and verification fails. Readable over OData.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163824" y="288036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3291840" y="300837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3291840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94176" y="300837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Scam knowledge, open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91840" y="3410712"/>
            <a:ext cx="2487168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Scam patterns in Google's Open Knowledge Format, with sources and trust tiers, cited in every verdict.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053328" y="288036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6181344" y="300837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6181344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0" y="300837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Slowing down is cheap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81344" y="3410712"/>
            <a:ext cx="2487168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Scammers sell urgency. The cash planner shows what rushing a sale costs, and the cheapest way to raise money calmly.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74320" y="12344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384048" y="13258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Transfer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" y="16459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Kamala pays Rs 30,000 to a new payee</a:t>
            </a:r>
          </a:p>
        </p:txBody>
      </p:sp>
      <p:sp>
        <p:nvSpPr>
          <p:cNvPr id="99" name="Chevron 98"/>
          <p:cNvSpPr/>
          <p:nvPr/>
        </p:nvSpPr>
        <p:spPr>
          <a:xfrm>
            <a:off x="1865376" y="18105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029967" y="12344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2139696" y="13258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Gateway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9696" y="16459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Behavioural and network risk score</a:t>
            </a:r>
          </a:p>
        </p:txBody>
      </p:sp>
      <p:sp>
        <p:nvSpPr>
          <p:cNvPr id="103" name="Chevron 102"/>
          <p:cNvSpPr/>
          <p:nvPr/>
        </p:nvSpPr>
        <p:spPr>
          <a:xfrm>
            <a:off x="3621023" y="18105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785615" y="12344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95344" y="13258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5300"/>
                </a:solidFill>
                <a:latin typeface="Arial"/>
              </a:rPr>
              <a:t>STEP‑UP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95344" y="16459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Fresh one-time-code proof before money moves</a:t>
            </a:r>
          </a:p>
        </p:txBody>
      </p:sp>
      <p:sp>
        <p:nvSpPr>
          <p:cNvPr id="107" name="Chevron 106"/>
          <p:cNvSpPr/>
          <p:nvPr/>
        </p:nvSpPr>
        <p:spPr>
          <a:xfrm>
            <a:off x="5376671" y="18105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541264" y="12344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5650992" y="13258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6E4F"/>
                </a:solidFill>
                <a:latin typeface="Arial"/>
              </a:rPr>
              <a:t>Check the offer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50992" y="16459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Gemini reads the WhatsApp message's red flags</a:t>
            </a:r>
          </a:p>
        </p:txBody>
      </p:sp>
      <p:sp>
        <p:nvSpPr>
          <p:cNvPr id="111" name="Chevron 110"/>
          <p:cNvSpPr/>
          <p:nvPr/>
        </p:nvSpPr>
        <p:spPr>
          <a:xfrm>
            <a:off x="7132319" y="18105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296912" y="12344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7406640" y="13258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42318"/>
                </a:solidFill>
                <a:latin typeface="Arial"/>
              </a:rPr>
              <a:t>STOP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06640" y="16459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SHIELD-P001 verdict, what to do, why, scam patterns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" y="269748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01F"/>
                </a:solidFill>
                <a:latin typeface="Arial"/>
              </a:rPr>
              <a:t>Then the customer's question and the bank's record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74320" y="30632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384048" y="31546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6E4F"/>
                </a:solidFill>
                <a:latin typeface="Arial"/>
              </a:rPr>
              <a:t>Ask why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4048" y="34747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Assistant answers in Sinhala; invented figures are withheld</a:t>
            </a:r>
          </a:p>
        </p:txBody>
      </p:sp>
      <p:sp>
        <p:nvSpPr>
          <p:cNvPr id="119" name="Chevron 118"/>
          <p:cNvSpPr/>
          <p:nvPr/>
        </p:nvSpPr>
        <p:spPr>
          <a:xfrm>
            <a:off x="1865376" y="36393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2029967" y="30632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2139696" y="31546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Decide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39696" y="34747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She cancels, or proves it is really her</a:t>
            </a:r>
          </a:p>
        </p:txBody>
      </p:sp>
      <p:sp>
        <p:nvSpPr>
          <p:cNvPr id="123" name="Chevron 122"/>
          <p:cNvSpPr/>
          <p:nvPr/>
        </p:nvSpPr>
        <p:spPr>
          <a:xfrm>
            <a:off x="3621023" y="36393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785615" y="30632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895344" y="31546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Sealed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95344" y="34747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Verdict and transfer decision hashed with model and policy</a:t>
            </a:r>
          </a:p>
        </p:txBody>
      </p:sp>
      <p:sp>
        <p:nvSpPr>
          <p:cNvPr id="127" name="Chevron 126"/>
          <p:cNvSpPr/>
          <p:nvPr/>
        </p:nvSpPr>
        <p:spPr>
          <a:xfrm>
            <a:off x="5376671" y="36393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541264" y="30632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650992" y="31546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Verify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650992" y="34747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Any change later fails against the contract</a:t>
            </a:r>
          </a:p>
        </p:txBody>
      </p:sp>
      <p:sp>
        <p:nvSpPr>
          <p:cNvPr id="131" name="Chevron 130"/>
          <p:cNvSpPr/>
          <p:nvPr/>
        </p:nvSpPr>
        <p:spPr>
          <a:xfrm>
            <a:off x="7132319" y="3639312"/>
            <a:ext cx="146304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296912" y="3063240"/>
            <a:ext cx="1572768" cy="13258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7406640" y="3154680"/>
            <a:ext cx="1353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Report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06640" y="3474720"/>
            <a:ext cx="1353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Bank and regulator read every decision over OData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625F"/>
                </a:solidFill>
                <a:latin typeface="Arial"/>
              </a:rPr>
              <a:t>Today the transfer check and the message check run side by side; feeding the message verdict into the transfer decision is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Design: the verdict is the product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4320" y="1143000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201F"/>
                </a:solidFill>
                <a:latin typeface="Arial"/>
              </a:rPr>
              <a:t>One decision, one stamp.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5625F"/>
                </a:solidFill>
                <a:latin typeface="Arial"/>
              </a:rPr>
              <a:t>The visual world is a bank passbook: paper, ink, savings-book green for safe, stamp red for stop. The verdict is a stamp with a word and a shape, never colour alone, then what to do, then why.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74320" y="260604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384048" y="2743200"/>
            <a:ext cx="731520" cy="731520"/>
          </a:xfrm>
          <a:prstGeom prst="ellipse">
            <a:avLst/>
          </a:prstGeom>
          <a:noFill/>
          <a:ln w="285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4048" y="27432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42318"/>
                </a:solidFill>
                <a:latin typeface="Arial"/>
              </a:rPr>
              <a:t>STOP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88720" y="2788920"/>
            <a:ext cx="896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This looks like a scam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286000" y="260604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2395728" y="2743200"/>
            <a:ext cx="731520" cy="731520"/>
          </a:xfrm>
          <a:prstGeom prst="ellipse">
            <a:avLst/>
          </a:prstGeom>
          <a:noFill/>
          <a:ln w="28575">
            <a:solidFill>
              <a:srgbClr val="8A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395728" y="27432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8A5300"/>
                </a:solidFill>
                <a:latin typeface="Arial"/>
              </a:rPr>
              <a:t>CHECK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00400" y="2788920"/>
            <a:ext cx="896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Some warning signs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74320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384048" y="3886200"/>
            <a:ext cx="731520" cy="731520"/>
          </a:xfrm>
          <a:prstGeom prst="ellipse">
            <a:avLst/>
          </a:prstGeom>
          <a:noFill/>
          <a:ln w="28575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84048" y="38862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6E4F"/>
                </a:solidFill>
                <a:latin typeface="Arial"/>
              </a:rPr>
              <a:t>CLEAR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88720" y="3931920"/>
            <a:ext cx="896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No warning signs found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286000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2395728" y="3886200"/>
            <a:ext cx="731520" cy="731520"/>
          </a:xfrm>
          <a:prstGeom prst="ellipse">
            <a:avLst/>
          </a:prstGeom>
          <a:noFill/>
          <a:ln w="28575">
            <a:solidFill>
              <a:srgbClr val="556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395728" y="38862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5625F"/>
                </a:solidFill>
                <a:latin typeface="Arial"/>
              </a:rPr>
              <a:t>UNSURE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00400" y="3931920"/>
            <a:ext cx="896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Too little to call it safe</a:t>
            </a:r>
          </a:p>
        </p:txBody>
      </p:sp>
      <p:pic>
        <p:nvPicPr>
          <p:cNvPr id="121" name="Picture 120" descr="shot-verd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143000"/>
            <a:ext cx="4434840" cy="2771775"/>
          </a:xfrm>
          <a:prstGeom prst="rect">
            <a:avLst/>
          </a:prstGeom>
          <a:ln w="9525">
            <a:solidFill>
              <a:srgbClr val="DDE3E1"/>
            </a:solidFill>
          </a:ln>
        </p:spPr>
      </p:pic>
      <p:sp>
        <p:nvSpPr>
          <p:cNvPr id="122" name="TextBox 121"/>
          <p:cNvSpPr txBox="1"/>
          <p:nvPr/>
        </p:nvSpPr>
        <p:spPr>
          <a:xfrm>
            <a:off x="4434840" y="400507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Live screen. Every text colour clears 4.5:1 contrast in light and dark; layouts are checked at phone width (390 px).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74320" y="118872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65760" y="1243584"/>
            <a:ext cx="123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Customers</a:t>
            </a:r>
          </a:p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Web app and mobile app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74320" y="201168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365760" y="2066543"/>
            <a:ext cx="123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Banks, regulators</a:t>
            </a:r>
          </a:p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OData v4 clients (Excel, BI)</a:t>
            </a:r>
          </a:p>
        </p:txBody>
      </p:sp>
      <p:sp>
        <p:nvSpPr>
          <p:cNvPr id="116" name="Chevron 115"/>
          <p:cNvSpPr/>
          <p:nvPr/>
        </p:nvSpPr>
        <p:spPr>
          <a:xfrm>
            <a:off x="1755648" y="1801368"/>
            <a:ext cx="146304" cy="201168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011680" y="1143000"/>
            <a:ext cx="4983480" cy="361188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2148840" y="11887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B6E4F"/>
                </a:solidFill>
                <a:latin typeface="Arial"/>
              </a:rPr>
              <a:t>Google Cloud Run  ·  each service verifies every request itself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8840" y="1536192"/>
            <a:ext cx="2286000" cy="932688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240280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Web (Next.js)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40280" y="187451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Scam Shield, planner, audit, assistant UI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544568" y="1536192"/>
            <a:ext cx="2286000" cy="932688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4636008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Platform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36008" y="187451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Accounts, roles, portfolios, token signing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148840" y="2587752"/>
            <a:ext cx="2286000" cy="932688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2240280" y="2651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C2 Fraud &amp; Scam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240280" y="2926080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Gemini red flags, SHIELD-P001, gateway G1-G7, step-up, OKF bundle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44568" y="2587752"/>
            <a:ext cx="2286000" cy="932688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4636008" y="2651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C1 Portfolio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36008" y="2926080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Fuzzy GA cash planner, MOEA/D, forecast bands, statement import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148840" y="3639311"/>
            <a:ext cx="2286000" cy="932688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2240280" y="37033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C4 Assistant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240280" y="397763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LangGraph agent on Gemini, grounding check, Trust Panel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544568" y="3639311"/>
            <a:ext cx="2286000" cy="932688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636008" y="37033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01F"/>
                </a:solidFill>
                <a:latin typeface="Arial"/>
              </a:rPr>
              <a:t>C3 Audit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36008" y="397763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Hash-committed decision log; AuditRegistry.sol on the audit service chain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178040" y="1143000"/>
            <a:ext cx="1691640" cy="804672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269480" y="119786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6E4F"/>
                </a:solidFill>
                <a:latin typeface="Arial"/>
              </a:rPr>
              <a:t>Gemini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269480" y="147218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25F"/>
                </a:solidFill>
                <a:latin typeface="Arial"/>
              </a:rPr>
              <a:t>Red flags, agent reasoning, Sinhala and Tamil answers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178040" y="2057400"/>
            <a:ext cx="169164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7269480" y="211226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Secret Manager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269480" y="238658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25F"/>
                </a:solidFill>
                <a:latin typeface="Arial"/>
              </a:rPr>
              <a:t>Signing key, service-client secrets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178040" y="2971800"/>
            <a:ext cx="169164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269480" y="302666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Cloud Build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269480" y="330098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25F"/>
                </a:solidFill>
                <a:latin typeface="Arial"/>
              </a:rPr>
              <a:t>Images per service, kept in Artifact Registry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178040" y="3886200"/>
            <a:ext cx="169164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7269480" y="3941063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GitHub Actions + WIF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269480" y="421538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25F"/>
                </a:solidFill>
                <a:latin typeface="Arial"/>
              </a:rPr>
              <a:t>Keyless deploy on every push</a:t>
            </a:r>
          </a:p>
        </p:txBody>
      </p:sp>
      <p:sp>
        <p:nvSpPr>
          <p:cNvPr id="149" name="Chevron 148"/>
          <p:cNvSpPr/>
          <p:nvPr/>
        </p:nvSpPr>
        <p:spPr>
          <a:xfrm>
            <a:off x="7013448" y="1417320"/>
            <a:ext cx="128016" cy="182880"/>
          </a:xfrm>
          <a:prstGeom prst="chevron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274320" y="1188720"/>
            <a:ext cx="8595360" cy="804672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411480" y="14356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411480" y="143560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Live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08760" y="128016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201F"/>
                </a:solidFill>
                <a:latin typeface="Arial"/>
              </a:rPr>
              <a:t>Gemini (red flags, agent, Sinhala/Tamil) · Cloud Run (6 services) · Cloud Build · Artifact Registry · Secret Manager · Workload Identity Federation · Open Knowledge Format (OKF) · Cloud Logging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74320" y="2103120"/>
            <a:ext cx="8595360" cy="804672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ounded Rectangle 124"/>
          <p:cNvSpPr/>
          <p:nvPr/>
        </p:nvSpPr>
        <p:spPr>
          <a:xfrm>
            <a:off x="411480" y="23500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411480" y="235000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Live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08760" y="219456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201F"/>
                </a:solidFill>
                <a:latin typeface="Arial"/>
              </a:rPr>
              <a:t>Next.js 16 + React 19 · FastAPI · Express · LangGraph · Expo (React Native) · Hardhat EVM + Solidity · OData v4 · RS256 / JWKS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4320" y="3017520"/>
            <a:ext cx="8595360" cy="804672"/>
          </a:xfrm>
          <a:prstGeom prst="roundRect">
            <a:avLst>
              <a:gd name="adj" fmla="val 12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ounded Rectangle 128"/>
          <p:cNvSpPr/>
          <p:nvPr/>
        </p:nvSpPr>
        <p:spPr>
          <a:xfrm>
            <a:off x="411480" y="32644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8A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411480" y="326440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Offline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08760" y="310896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201F"/>
                </a:solidFill>
                <a:latin typeface="Arial"/>
              </a:rPr>
              <a:t>TimesFM fine-tuned with LoRA on a Colab T4 + LSTM residual head; walk-forward evaluation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74320" y="3931920"/>
            <a:ext cx="859536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ounded Rectangle 132"/>
          <p:cNvSpPr/>
          <p:nvPr/>
        </p:nvSpPr>
        <p:spPr>
          <a:xfrm>
            <a:off x="411480" y="41788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556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411480" y="417880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08760" y="4023359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201F"/>
                </a:solidFill>
                <a:latin typeface="Arial"/>
              </a:rPr>
              <a:t>Vertex AI, ADK + Agent Engine, BigQuery ML AI.FORECAST, Document AI, Vertex AI Search, Pub/Sub, Firestore, Firebase Auth, Cloud Armor, VPC-SC, Blockchain Node Engine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25F"/>
                </a:solidFill>
                <a:latin typeface="Arial"/>
              </a:rPr>
              <a:t>Status as deployed on 18 Oct 2026. The README's technology map lists the same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hot-verdict.png"/>
          <p:cNvPicPr>
            <a:picLocks noChangeAspect="1"/>
          </p:cNvPicPr>
          <p:nvPr/>
        </p:nvPicPr>
        <p:blipFill>
          <a:blip r:embed="rId5"/>
          <a:srcRect t="12500"/>
          <a:stretch>
            <a:fillRect/>
          </a:stretch>
        </p:blipFill>
        <p:spPr>
          <a:xfrm>
            <a:off x="274320" y="1143000"/>
            <a:ext cx="2788920" cy="1525190"/>
          </a:xfrm>
          <a:prstGeom prst="rect">
            <a:avLst/>
          </a:prstGeom>
          <a:ln w="9525">
            <a:solidFill>
              <a:srgbClr val="DDE3E1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154679" y="1234440"/>
            <a:ext cx="1325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Scam Shield: STOP stamp, reasons, cited OKF scam patterns; red flags read by Gemini</a:t>
            </a:r>
          </a:p>
        </p:txBody>
      </p:sp>
      <p:pic>
        <p:nvPicPr>
          <p:cNvPr id="138" name="Picture 137" descr="shot-assistant.png"/>
          <p:cNvPicPr>
            <a:picLocks noChangeAspect="1"/>
          </p:cNvPicPr>
          <p:nvPr/>
        </p:nvPicPr>
        <p:blipFill>
          <a:blip r:embed="rId6"/>
          <a:srcRect t="12500"/>
          <a:stretch>
            <a:fillRect/>
          </a:stretch>
        </p:blipFill>
        <p:spPr>
          <a:xfrm>
            <a:off x="4617720" y="1143000"/>
            <a:ext cx="2788920" cy="1525190"/>
          </a:xfrm>
          <a:prstGeom prst="rect">
            <a:avLst/>
          </a:prstGeom>
          <a:ln w="9525">
            <a:solidFill>
              <a:srgbClr val="DDE3E1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7498079" y="1234440"/>
            <a:ext cx="1325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Assistant answering in Sinhala, from the scam-check tool</a:t>
            </a:r>
          </a:p>
        </p:txBody>
      </p:sp>
      <p:pic>
        <p:nvPicPr>
          <p:cNvPr id="140" name="Picture 139" descr="shot-withdraw.png"/>
          <p:cNvPicPr>
            <a:picLocks noChangeAspect="1"/>
          </p:cNvPicPr>
          <p:nvPr/>
        </p:nvPicPr>
        <p:blipFill>
          <a:blip r:embed="rId7"/>
          <a:srcRect t="12500"/>
          <a:stretch>
            <a:fillRect/>
          </a:stretch>
        </p:blipFill>
        <p:spPr>
          <a:xfrm>
            <a:off x="274320" y="3063240"/>
            <a:ext cx="2788920" cy="1525190"/>
          </a:xfrm>
          <a:prstGeom prst="rect">
            <a:avLst/>
          </a:prstGeom>
          <a:ln w="9525">
            <a:solidFill>
              <a:srgbClr val="DDE3E1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154679" y="3154680"/>
            <a:ext cx="1325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Cash planner: feasible plan and its cost against three baselines</a:t>
            </a:r>
          </a:p>
        </p:txBody>
      </p:sp>
      <p:pic>
        <p:nvPicPr>
          <p:cNvPr id="142" name="Picture 141" descr="shot-tamper.png"/>
          <p:cNvPicPr>
            <a:picLocks noChangeAspect="1"/>
          </p:cNvPicPr>
          <p:nvPr/>
        </p:nvPicPr>
        <p:blipFill>
          <a:blip r:embed="rId8"/>
          <a:srcRect t="12500"/>
          <a:stretch>
            <a:fillRect/>
          </a:stretch>
        </p:blipFill>
        <p:spPr>
          <a:xfrm>
            <a:off x="4617720" y="3063240"/>
            <a:ext cx="2788920" cy="1525190"/>
          </a:xfrm>
          <a:prstGeom prst="rect">
            <a:avLst/>
          </a:prstGeom>
          <a:ln w="9525">
            <a:solidFill>
              <a:srgbClr val="DDE3E1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7498079" y="3154680"/>
            <a:ext cx="1325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625F"/>
                </a:solidFill>
                <a:latin typeface="Arial"/>
              </a:rPr>
              <a:t>Audit: record altered, verification fails against the contract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Chart 143"/>
          <p:cNvGraphicFramePr>
            <a:graphicFrameLocks noGrp="1"/>
          </p:cNvGraphicFramePr>
          <p:nvPr/>
        </p:nvGraphicFramePr>
        <p:xfrm>
          <a:off x="274320" y="1188720"/>
          <a:ext cx="4206240" cy="192024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274320" y="3200400"/>
            <a:ext cx="42062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Arial"/>
              </a:rPr>
              <a:t>20 / 20 scams flagged, 0 false alarms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5625F"/>
                </a:solidFill>
                <a:latin typeface="Arial"/>
              </a:rPr>
              <a:t>Gemini reading red flags lifts recall from 45% to 100% at the same zero false-positive rate (precision 1.00). Honest limits: 40 synthetic English messages written by the team (eval/scam_synthetic_v1.jsonl); Sinhala and Tamil not yet measured; a real labelled Sri Lankan set is next.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5625F"/>
                </a:solidFill>
                <a:latin typeface="Arial"/>
              </a:rPr>
              <a:t>Forecasting (offline): fine-tuned TimesFM hybrid, −6.8% pinball loss vs LSTM.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709160" y="118872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4846320" y="1298448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6E4F"/>
                </a:solidFill>
                <a:latin typeface="Arial"/>
              </a:rPr>
              <a:t>11 / 11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26480" y="128016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live end-to-end checks pass on Cloud Run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709160" y="210312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4846320" y="2212848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6E4F"/>
                </a:solidFill>
                <a:latin typeface="Arial"/>
              </a:rPr>
              <a:t>176 +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26480" y="219456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automated tests passing: platform 63, fraud 46, assistant 22, web 38, mobile 7, plus the audit suite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709160" y="301752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846320" y="3127248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6E4F"/>
                </a:solidFill>
                <a:latin typeface="Arial"/>
              </a:rPr>
              <a:t>401 / 403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26480" y="310896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no token or wrong role is refused, by every service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709160" y="393192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4846320" y="4041648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6E4F"/>
                </a:solidFill>
                <a:latin typeface="Arial"/>
              </a:rPr>
              <a:t>6 / 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26480" y="4023359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4201F"/>
                </a:solidFill>
                <a:latin typeface="Arial"/>
              </a:rPr>
              <a:t>services live on Cloud Run, redeployed by CI on every push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74320" y="11430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6E4F"/>
                </a:solidFill>
                <a:latin typeface="Arial"/>
              </a:rPr>
              <a:t>Already in place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74320" y="150876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402336" y="1636776"/>
            <a:ext cx="3767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Honest by design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2336" y="1929384"/>
            <a:ext cx="37673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5625F"/>
                </a:solidFill>
                <a:latin typeface="Arial"/>
              </a:rPr>
              <a:t>The README separates what is live, offline and planned; negative results are reported.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74320" y="310896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402336" y="3236976"/>
            <a:ext cx="3767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Responsible AI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02336" y="3529584"/>
            <a:ext cx="37673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5625F"/>
                </a:solidFill>
                <a:latin typeface="Arial"/>
              </a:rPr>
              <a:t>Policies decide, figures are grounded, privacy and advice checks run on every answer; family guardian alerts wait for the user's consent.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72000" y="114300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Next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572000" y="1508760"/>
            <a:ext cx="4297680" cy="5760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681728" y="1563624"/>
            <a:ext cx="1600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Link the checks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55080" y="1563624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625F"/>
                </a:solidFill>
                <a:latin typeface="Arial"/>
              </a:rPr>
              <a:t>Feed the message verdict into the transfer decision.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572000" y="2176272"/>
            <a:ext cx="4297680" cy="5760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4681728" y="2231136"/>
            <a:ext cx="1600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Real-world eval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231136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625F"/>
                </a:solidFill>
                <a:latin typeface="Arial"/>
              </a:rPr>
              <a:t>Labelled Sri Lankan messages, Sinhala and Tamil, with partner banks.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72000" y="2843784"/>
            <a:ext cx="4297680" cy="5760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4681728" y="2898648"/>
            <a:ext cx="1600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Gemini on Vertex AI + ADK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55080" y="2898648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625F"/>
                </a:solidFill>
                <a:latin typeface="Arial"/>
              </a:rPr>
              <a:t>Move the agent to Agent Engine; Document AI for statements.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572000" y="3511296"/>
            <a:ext cx="4297680" cy="5760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4681728" y="3566160"/>
            <a:ext cx="1600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Public anchoring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55080" y="3566160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625F"/>
                </a:solidFill>
                <a:latin typeface="Arial"/>
              </a:rPr>
              <a:t>Anchor the log on a public testnet via Blockchain Node Engine.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572000" y="4178808"/>
            <a:ext cx="4297680" cy="576072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4681728" y="4233672"/>
            <a:ext cx="1600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201F"/>
                </a:solidFill>
                <a:latin typeface="Arial"/>
              </a:rPr>
              <a:t>WhatsApp bot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355080" y="4233672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625F"/>
                </a:solidFill>
                <a:latin typeface="Arial"/>
              </a:rPr>
              <a:t>Forward a message, get the verdict back in the same chat.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 </a:t>
            </a:r>
            <a:r>
              <a:rPr sz="1200">
                <a:solidFill>
                  <a:srgbClr val="0B6E4F"/>
                </a:solidFill>
                <a:latin typeface="Arial"/>
                <a:hlinkClick r:id="rId5"/>
              </a:rPr>
              <a:t>https://github.com/Adagard-Trios/AI-Buildathon-2026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 </a:t>
            </a:r>
            <a:r>
              <a:rPr sz="1200">
                <a:solidFill>
                  <a:srgbClr val="B42318"/>
                </a:solidFill>
                <a:latin typeface="Arial"/>
              </a:rPr>
              <a:t>ADD THE VIDEO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 </a:t>
            </a:r>
            <a:r>
              <a:rPr sz="1200">
                <a:solidFill>
                  <a:srgbClr val="0B6E4F"/>
                </a:solidFill>
                <a:latin typeface="Arial"/>
                <a:hlinkClick r:id="rId6"/>
              </a:rPr>
              <a:t>https://firststep-web-214625202650.us-central1.run.app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274320" y="2423160"/>
            <a:ext cx="8595360" cy="201168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57200" y="2560320"/>
            <a:ext cx="82296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B6E4F"/>
                </a:solidFill>
                <a:latin typeface="Arial"/>
              </a:rPr>
              <a:t>Try it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4201F"/>
                </a:solidFill>
                <a:latin typeface="Arial"/>
              </a:rPr>
              <a:t>Register any email: every account starts with a demo portfolio of CSE, US and crypto holdings.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4201F"/>
                </a:solidFill>
                <a:latin typeface="Arial"/>
              </a:rPr>
              <a:t>Fraud → Scam Shield: paste an investment offer and see the verdict, reasons and scam patterns.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4201F"/>
                </a:solidFill>
                <a:latin typeface="Arial"/>
              </a:rPr>
              <a:t>Fraud → Check a transfer: tick New beneficiary, amount 30,000 → STEP-UP → enter the code.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4201F"/>
                </a:solidFill>
                <a:latin typeface="Arial"/>
              </a:rPr>
              <a:t>Audit → Tamper-evidence: anchor, verify, tamper, verify again.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55625F"/>
                </a:solidFill>
                <a:latin typeface="Arial"/>
              </a:rPr>
              <a:t>Services scale to zero to keep cost near nothing: the first click on a quiet service takes ~15 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56616" y="71323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oogle Sans Flex Medium"/>
              </a:rPr>
              <a:t>Built to be trusted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11887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402336" y="131673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402336" y="1316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04672" y="131673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Verify every request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02336" y="1719072"/>
            <a:ext cx="24871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Each service checks RS256 tokens against the platform's JWKS; no token means 401, wrong audience or role 403.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163824" y="11887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3291840" y="131673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3291840" y="1316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694176" y="131673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Least privilege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291840" y="1719072"/>
            <a:ext cx="24871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Roles come from deployment config only; staff addresses cannot be self-registered.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053328" y="11887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6181344" y="131673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181344" y="1316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583680" y="131673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Your data only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81344" y="1719072"/>
            <a:ext cx="24871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Row-level reads: customers see only their own records; auditors read all, alter nothing.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274320" y="288036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402336" y="300837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402336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04672" y="300837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Fresh proof for risk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02336" y="3410712"/>
            <a:ext cx="2487168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STEP-UP one-time codes on risky transfers, even inside a valid session.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163824" y="288036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3291840" y="300837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3291840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694176" y="300837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Fail closed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91840" y="3410712"/>
            <a:ext cx="2487168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Misconfiguration refuses instead of allowing; denials are sealed in the audit trail.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053328" y="288036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6181344" y="3008376"/>
            <a:ext cx="310896" cy="310896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6181344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583680" y="3008376"/>
            <a:ext cx="20848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1F"/>
                </a:solidFill>
                <a:latin typeface="Arial"/>
              </a:rPr>
              <a:t>No invented numbers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181344" y="3410712"/>
            <a:ext cx="2487168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625F"/>
                </a:solidFill>
                <a:latin typeface="Arial"/>
              </a:rPr>
              <a:t>An answer with a figure no tool produced is withheld.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